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2"/>
    <p:sldId id="284" r:id="rId3"/>
    <p:sldId id="270" r:id="rId4"/>
    <p:sldId id="285" r:id="rId5"/>
    <p:sldId id="269" r:id="rId6"/>
    <p:sldId id="286" r:id="rId7"/>
    <p:sldId id="287" r:id="rId8"/>
    <p:sldId id="288" r:id="rId9"/>
    <p:sldId id="289" r:id="rId10"/>
    <p:sldId id="261" r:id="rId11"/>
    <p:sldId id="290" r:id="rId12"/>
    <p:sldId id="291" r:id="rId13"/>
    <p:sldId id="262" r:id="rId14"/>
    <p:sldId id="276" r:id="rId15"/>
    <p:sldId id="277" r:id="rId16"/>
    <p:sldId id="292" r:id="rId17"/>
    <p:sldId id="279" r:id="rId18"/>
    <p:sldId id="293" r:id="rId19"/>
    <p:sldId id="295" r:id="rId20"/>
    <p:sldId id="294" r:id="rId21"/>
    <p:sldId id="282" r:id="rId22"/>
    <p:sldId id="267" r:id="rId23"/>
    <p:sldId id="264" r:id="rId24"/>
    <p:sldId id="265" r:id="rId25"/>
    <p:sldId id="266" r:id="rId26"/>
    <p:sldId id="29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3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usti\OneDrive\Desktop\Code_Basics\6.SQL\products%20%20as%20per%20division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usti\Downloads\8-j-region-wise-market-share-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usti\Downloads\8-j-region-wise-market-share-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usti\Downloads\8-j-region-wise-market-share-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usti\Downloads\8-j-region-wise-market-share-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Net</a:t>
            </a:r>
            <a:r>
              <a:rPr lang="en-US" baseline="0"/>
              <a:t> Sales Global Market Share %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'products  as per division'!$C$1</c:f>
              <c:strCache>
                <c:ptCount val="1"/>
                <c:pt idx="0">
                  <c:v>pct_net_sales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'products  as per division'!$A$2:$A$11</c:f>
              <c:strCache>
                <c:ptCount val="10"/>
                <c:pt idx="0">
                  <c:v>Amazon</c:v>
                </c:pt>
                <c:pt idx="1">
                  <c:v>Atliq Exclusive</c:v>
                </c:pt>
                <c:pt idx="2">
                  <c:v>Atliq e Store</c:v>
                </c:pt>
                <c:pt idx="3">
                  <c:v>Sage</c:v>
                </c:pt>
                <c:pt idx="4">
                  <c:v>Flipkart</c:v>
                </c:pt>
                <c:pt idx="5">
                  <c:v>Leader</c:v>
                </c:pt>
                <c:pt idx="6">
                  <c:v>Neptune</c:v>
                </c:pt>
                <c:pt idx="7">
                  <c:v>Ebay</c:v>
                </c:pt>
                <c:pt idx="8">
                  <c:v>Electricalsocity</c:v>
                </c:pt>
                <c:pt idx="9">
                  <c:v>Synthetic</c:v>
                </c:pt>
              </c:strCache>
            </c:strRef>
          </c:cat>
          <c:val>
            <c:numRef>
              <c:f>'products  as per division'!$C$2:$C$11</c:f>
              <c:numCache>
                <c:formatCode>General</c:formatCode>
                <c:ptCount val="10"/>
                <c:pt idx="0">
                  <c:v>13.233402</c:v>
                </c:pt>
                <c:pt idx="1">
                  <c:v>9.7002059999999997</c:v>
                </c:pt>
                <c:pt idx="2">
                  <c:v>8.5338030000000007</c:v>
                </c:pt>
                <c:pt idx="3">
                  <c:v>3.285593</c:v>
                </c:pt>
                <c:pt idx="4">
                  <c:v>3.064692</c:v>
                </c:pt>
                <c:pt idx="5">
                  <c:v>2.976089</c:v>
                </c:pt>
                <c:pt idx="6">
                  <c:v>2.5500669999999999</c:v>
                </c:pt>
                <c:pt idx="7">
                  <c:v>2.4129139999999998</c:v>
                </c:pt>
                <c:pt idx="8">
                  <c:v>1.9723269999999999</c:v>
                </c:pt>
                <c:pt idx="9">
                  <c:v>1.954121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65-496F-8C0F-C7DA33E662C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06221423"/>
        <c:axId val="797470479"/>
      </c:barChart>
      <c:catAx>
        <c:axId val="806221423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7470479"/>
        <c:crosses val="autoZero"/>
        <c:auto val="1"/>
        <c:lblAlgn val="ctr"/>
        <c:lblOffset val="100"/>
        <c:noMultiLvlLbl val="0"/>
      </c:catAx>
      <c:valAx>
        <c:axId val="797470479"/>
        <c:scaling>
          <c:orientation val="minMax"/>
        </c:scaling>
        <c:delete val="0"/>
        <c:axPos val="t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6221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</a:rPr>
              <a:t>APAC Market Share By Customers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region_wise_market_share_1!$D$1</c:f>
              <c:strCache>
                <c:ptCount val="1"/>
                <c:pt idx="0">
                  <c:v>pct_share_region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D09-49E6-B7C1-37468175E53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D09-49E6-B7C1-37468175E53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D09-49E6-B7C1-37468175E53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6D09-49E6-B7C1-37468175E53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6D09-49E6-B7C1-37468175E53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6D09-49E6-B7C1-37468175E53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6D09-49E6-B7C1-37468175E53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6D09-49E6-B7C1-37468175E53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6D09-49E6-B7C1-37468175E53D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region_wise_market_share_1!$A$2:$B$10</c:f>
              <c:multiLvlStrCache>
                <c:ptCount val="9"/>
                <c:lvl>
                  <c:pt idx="0">
                    <c:v>APAC</c:v>
                  </c:pt>
                  <c:pt idx="1">
                    <c:v>APAC</c:v>
                  </c:pt>
                  <c:pt idx="2">
                    <c:v>APAC</c:v>
                  </c:pt>
                  <c:pt idx="3">
                    <c:v>APAC</c:v>
                  </c:pt>
                  <c:pt idx="4">
                    <c:v>APAC</c:v>
                  </c:pt>
                  <c:pt idx="5">
                    <c:v>APAC</c:v>
                  </c:pt>
                  <c:pt idx="6">
                    <c:v>APAC</c:v>
                  </c:pt>
                  <c:pt idx="7">
                    <c:v>APAC</c:v>
                  </c:pt>
                  <c:pt idx="8">
                    <c:v>APAC</c:v>
                  </c:pt>
                </c:lvl>
                <c:lvl>
                  <c:pt idx="0">
                    <c:v>Amazon </c:v>
                  </c:pt>
                  <c:pt idx="1">
                    <c:v>Atliq Exclusive</c:v>
                  </c:pt>
                  <c:pt idx="2">
                    <c:v>Atliq e Store</c:v>
                  </c:pt>
                  <c:pt idx="3">
                    <c:v>Leader</c:v>
                  </c:pt>
                  <c:pt idx="4">
                    <c:v>Sage</c:v>
                  </c:pt>
                  <c:pt idx="5">
                    <c:v>Neptune</c:v>
                  </c:pt>
                  <c:pt idx="6">
                    <c:v>Electricalsocity</c:v>
                  </c:pt>
                  <c:pt idx="7">
                    <c:v>Propel</c:v>
                  </c:pt>
                  <c:pt idx="8">
                    <c:v>Synthetic</c:v>
                  </c:pt>
                </c:lvl>
              </c:multiLvlStrCache>
            </c:multiLvlStrRef>
          </c:cat>
          <c:val>
            <c:numRef>
              <c:f>region_wise_market_share_1!$D$2:$D$10</c:f>
              <c:numCache>
                <c:formatCode>0.00</c:formatCode>
                <c:ptCount val="9"/>
                <c:pt idx="0">
                  <c:v>12.988688</c:v>
                </c:pt>
                <c:pt idx="1">
                  <c:v>11.669682999999999</c:v>
                </c:pt>
                <c:pt idx="2">
                  <c:v>8.3642529999999997</c:v>
                </c:pt>
                <c:pt idx="3">
                  <c:v>5.5475110000000001</c:v>
                </c:pt>
                <c:pt idx="4">
                  <c:v>5.169683</c:v>
                </c:pt>
                <c:pt idx="5">
                  <c:v>4.7533940000000001</c:v>
                </c:pt>
                <c:pt idx="6">
                  <c:v>3.6764709999999998</c:v>
                </c:pt>
                <c:pt idx="7">
                  <c:v>3.1990949999999998</c:v>
                </c:pt>
                <c:pt idx="8">
                  <c:v>3.1990949999999998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D09-49E6-B7C1-37468175E53D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EU</a:t>
            </a:r>
            <a:r>
              <a:rPr lang="en-US" baseline="0"/>
              <a:t> Market Share By Customers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CB8-48CE-BCB4-F19C2F4FBBE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CB8-48CE-BCB4-F19C2F4FBBE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CB8-48CE-BCB4-F19C2F4FBBE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CB8-48CE-BCB4-F19C2F4FBBE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CCB8-48CE-BCB4-F19C2F4FBBEE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CCB8-48CE-BCB4-F19C2F4FBBEE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CCB8-48CE-BCB4-F19C2F4FBBEE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CCB8-48CE-BCB4-F19C2F4FBBEE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CCB8-48CE-BCB4-F19C2F4FBBEE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CCB8-48CE-BCB4-F19C2F4FBBEE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5-CCB8-48CE-BCB4-F19C2F4FBBEE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region_wise_market_share_1!$A$40:$B$50</c:f>
              <c:multiLvlStrCache>
                <c:ptCount val="11"/>
                <c:lvl>
                  <c:pt idx="0">
                    <c:v>EU</c:v>
                  </c:pt>
                  <c:pt idx="1">
                    <c:v>EU</c:v>
                  </c:pt>
                  <c:pt idx="2">
                    <c:v>EU</c:v>
                  </c:pt>
                  <c:pt idx="3">
                    <c:v>EU</c:v>
                  </c:pt>
                  <c:pt idx="4">
                    <c:v>EU</c:v>
                  </c:pt>
                  <c:pt idx="5">
                    <c:v>EU</c:v>
                  </c:pt>
                  <c:pt idx="6">
                    <c:v>EU</c:v>
                  </c:pt>
                  <c:pt idx="7">
                    <c:v>EU</c:v>
                  </c:pt>
                  <c:pt idx="8">
                    <c:v>EU</c:v>
                  </c:pt>
                  <c:pt idx="9">
                    <c:v>EU</c:v>
                  </c:pt>
                  <c:pt idx="10">
                    <c:v>EU</c:v>
                  </c:pt>
                </c:lvl>
                <c:lvl>
                  <c:pt idx="0">
                    <c:v>Atliq e Store</c:v>
                  </c:pt>
                  <c:pt idx="1">
                    <c:v>Amazon </c:v>
                  </c:pt>
                  <c:pt idx="2">
                    <c:v>Atliq Exclusive</c:v>
                  </c:pt>
                  <c:pt idx="3">
                    <c:v>UniEuro</c:v>
                  </c:pt>
                  <c:pt idx="4">
                    <c:v>Expert</c:v>
                  </c:pt>
                  <c:pt idx="5">
                    <c:v>Chip 7</c:v>
                  </c:pt>
                  <c:pt idx="6">
                    <c:v>Radio Popular</c:v>
                  </c:pt>
                  <c:pt idx="7">
                    <c:v>Media Markt</c:v>
                  </c:pt>
                  <c:pt idx="8">
                    <c:v>ElkjÃ¸p</c:v>
                  </c:pt>
                  <c:pt idx="9">
                    <c:v>Sorefoz</c:v>
                  </c:pt>
                  <c:pt idx="10">
                    <c:v>Coolblue</c:v>
                  </c:pt>
                </c:lvl>
              </c:multiLvlStrCache>
            </c:multiLvlStrRef>
          </c:cat>
          <c:val>
            <c:numRef>
              <c:f>region_wise_market_share_1!$D$40:$D$50</c:f>
              <c:numCache>
                <c:formatCode>0.00</c:formatCode>
                <c:ptCount val="11"/>
                <c:pt idx="0">
                  <c:v>9.8745139999999996</c:v>
                </c:pt>
                <c:pt idx="1">
                  <c:v>9.8446370000000005</c:v>
                </c:pt>
                <c:pt idx="2">
                  <c:v>6.6676630000000001</c:v>
                </c:pt>
                <c:pt idx="3">
                  <c:v>4.7953390000000002</c:v>
                </c:pt>
                <c:pt idx="4">
                  <c:v>4.1728909999999999</c:v>
                </c:pt>
                <c:pt idx="5">
                  <c:v>3.6002390000000002</c:v>
                </c:pt>
                <c:pt idx="6">
                  <c:v>3.4608110000000001</c:v>
                </c:pt>
                <c:pt idx="7">
                  <c:v>3.4259539999999999</c:v>
                </c:pt>
                <c:pt idx="8">
                  <c:v>3.3661989999999999</c:v>
                </c:pt>
                <c:pt idx="9">
                  <c:v>3.0524849999999999</c:v>
                </c:pt>
                <c:pt idx="10">
                  <c:v>2.7835869999999998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CCB8-48CE-BCB4-F19C2F4FBBEE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North</a:t>
            </a:r>
            <a:r>
              <a:rPr lang="en-US" baseline="0"/>
              <a:t> America Market Share By Customers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53B-4090-B2DD-F870A928DC6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53B-4090-B2DD-F870A928DC6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53B-4090-B2DD-F870A928DC6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53B-4090-B2DD-F870A928DC6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53B-4090-B2DD-F870A928DC68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E53B-4090-B2DD-F870A928DC68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E53B-4090-B2DD-F870A928DC68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E53B-4090-B2DD-F870A928DC68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E53B-4090-B2DD-F870A928DC68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E53B-4090-B2DD-F870A928DC68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region_wise_market_share_1!$A$87:$B$96</c:f>
              <c:multiLvlStrCache>
                <c:ptCount val="10"/>
                <c:lvl>
                  <c:pt idx="0">
                    <c:v>NA</c:v>
                  </c:pt>
                  <c:pt idx="1">
                    <c:v>NA</c:v>
                  </c:pt>
                  <c:pt idx="2">
                    <c:v>NA</c:v>
                  </c:pt>
                  <c:pt idx="3">
                    <c:v>NA</c:v>
                  </c:pt>
                  <c:pt idx="4">
                    <c:v>NA</c:v>
                  </c:pt>
                  <c:pt idx="5">
                    <c:v>NA</c:v>
                  </c:pt>
                  <c:pt idx="6">
                    <c:v>NA</c:v>
                  </c:pt>
                  <c:pt idx="7">
                    <c:v>NA</c:v>
                  </c:pt>
                  <c:pt idx="8">
                    <c:v>NA</c:v>
                  </c:pt>
                  <c:pt idx="9">
                    <c:v>NA</c:v>
                  </c:pt>
                </c:lvl>
                <c:lvl>
                  <c:pt idx="0">
                    <c:v>Amazon </c:v>
                  </c:pt>
                  <c:pt idx="1">
                    <c:v>Atliq Exclusive</c:v>
                  </c:pt>
                  <c:pt idx="2">
                    <c:v>walmart</c:v>
                  </c:pt>
                  <c:pt idx="3">
                    <c:v>Atliq e Store</c:v>
                  </c:pt>
                  <c:pt idx="4">
                    <c:v>Costco</c:v>
                  </c:pt>
                  <c:pt idx="5">
                    <c:v>Staples</c:v>
                  </c:pt>
                  <c:pt idx="6">
                    <c:v>Flipkart</c:v>
                  </c:pt>
                  <c:pt idx="7">
                    <c:v>Path</c:v>
                  </c:pt>
                  <c:pt idx="8">
                    <c:v>Ebay</c:v>
                  </c:pt>
                  <c:pt idx="9">
                    <c:v>Acclaimed Stores</c:v>
                  </c:pt>
                </c:lvl>
              </c:multiLvlStrCache>
            </c:multiLvlStrRef>
          </c:cat>
          <c:val>
            <c:numRef>
              <c:f>region_wise_market_share_1!$D$87:$D$96</c:f>
              <c:numCache>
                <c:formatCode>0.00</c:formatCode>
                <c:ptCount val="10"/>
                <c:pt idx="0">
                  <c:v>17.033832</c:v>
                </c:pt>
                <c:pt idx="1">
                  <c:v>8.4017079999999993</c:v>
                </c:pt>
                <c:pt idx="2">
                  <c:v>7.0978979999999998</c:v>
                </c:pt>
                <c:pt idx="3">
                  <c:v>6.9798809999999998</c:v>
                </c:pt>
                <c:pt idx="4">
                  <c:v>6.8506239999999998</c:v>
                </c:pt>
                <c:pt idx="5">
                  <c:v>6.4572329999999996</c:v>
                </c:pt>
                <c:pt idx="6">
                  <c:v>5.816567</c:v>
                </c:pt>
                <c:pt idx="7">
                  <c:v>5.1140829999999999</c:v>
                </c:pt>
                <c:pt idx="8">
                  <c:v>4.9117680000000004</c:v>
                </c:pt>
                <c:pt idx="9">
                  <c:v>4.7937510000000003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E53B-4090-B2DD-F870A928DC68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Latin America Market Share By Customers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4EB-4349-A67B-14360F9026C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4EB-4349-A67B-14360F9026C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14EB-4349-A67B-14360F9026CB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multiLvlStrRef>
              <c:f>region_wise_market_share_1!$A$84:$B$86</c:f>
              <c:multiLvlStrCache>
                <c:ptCount val="3"/>
                <c:lvl>
                  <c:pt idx="0">
                    <c:v>LATAM</c:v>
                  </c:pt>
                  <c:pt idx="1">
                    <c:v>LATAM</c:v>
                  </c:pt>
                  <c:pt idx="2">
                    <c:v>LATAM</c:v>
                  </c:pt>
                </c:lvl>
                <c:lvl>
                  <c:pt idx="0">
                    <c:v>Amazon </c:v>
                  </c:pt>
                  <c:pt idx="1">
                    <c:v>Atliq e Store</c:v>
                  </c:pt>
                  <c:pt idx="2">
                    <c:v>Electricalsbea Stores</c:v>
                  </c:pt>
                </c:lvl>
              </c:multiLvlStrCache>
            </c:multiLvlStrRef>
          </c:cat>
          <c:val>
            <c:numRef>
              <c:f>region_wise_market_share_1!$D$84:$D$86</c:f>
              <c:numCache>
                <c:formatCode>0.00</c:formatCode>
                <c:ptCount val="3"/>
                <c:pt idx="0">
                  <c:v>48.734177000000003</c:v>
                </c:pt>
                <c:pt idx="1">
                  <c:v>34.493670999999999</c:v>
                </c:pt>
                <c:pt idx="2">
                  <c:v>16.772151999999998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4EB-4349-A67B-14360F9026C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0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C7256C1-A705-7C12-01E9-C53CFEC94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CD701571-7982-8ECB-2BE1-3F2EC3D68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AEB4D7C6-2C46-D288-66B3-B4065857C9F1}"/>
              </a:ext>
            </a:extLst>
          </p:cNvPr>
          <p:cNvSpPr/>
          <p:nvPr/>
        </p:nvSpPr>
        <p:spPr>
          <a:xfrm>
            <a:off x="5233360" y="198596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AtliQ Hardware</a:t>
            </a:r>
            <a:endParaRPr lang="en-US" sz="3700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2D1AFF62-3195-11DA-8BCA-A5FDFE6C572A}"/>
              </a:ext>
            </a:extLst>
          </p:cNvPr>
          <p:cNvSpPr/>
          <p:nvPr/>
        </p:nvSpPr>
        <p:spPr>
          <a:xfrm>
            <a:off x="5233360" y="2860080"/>
            <a:ext cx="2864274" cy="287139"/>
          </a:xfrm>
          <a:prstGeom prst="roundRect">
            <a:avLst>
              <a:gd name="adj" fmla="val 22118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43B3F708-28A4-9199-2DEB-240501CDDC5F}"/>
              </a:ext>
            </a:extLst>
          </p:cNvPr>
          <p:cNvSpPr/>
          <p:nvPr/>
        </p:nvSpPr>
        <p:spPr>
          <a:xfrm>
            <a:off x="5346765" y="2916734"/>
            <a:ext cx="324705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FINANCE &amp; SUPPLY CHAIN ANALYTICS</a:t>
            </a:r>
            <a:endParaRPr lang="en-US" sz="115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51A1F798-C893-99B6-DEED-39F05FA63DC7}"/>
              </a:ext>
            </a:extLst>
          </p:cNvPr>
          <p:cNvSpPr/>
          <p:nvPr/>
        </p:nvSpPr>
        <p:spPr>
          <a:xfrm>
            <a:off x="8192089" y="2860080"/>
            <a:ext cx="721302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5A6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37B3F308-05B6-8DD5-5266-77466AEEC93E}"/>
              </a:ext>
            </a:extLst>
          </p:cNvPr>
          <p:cNvSpPr/>
          <p:nvPr/>
        </p:nvSpPr>
        <p:spPr>
          <a:xfrm>
            <a:off x="8305493" y="2916734"/>
            <a:ext cx="110407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MYSQL</a:t>
            </a:r>
            <a:endParaRPr lang="en-US" sz="115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0FC0DF2-1413-F17B-D2E9-DA64F0E9F94C}"/>
              </a:ext>
            </a:extLst>
          </p:cNvPr>
          <p:cNvSpPr/>
          <p:nvPr/>
        </p:nvSpPr>
        <p:spPr>
          <a:xfrm>
            <a:off x="5233360" y="3359845"/>
            <a:ext cx="6722666" cy="2044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latin typeface="Roboto" pitchFamily="34" charset="0"/>
                <a:ea typeface="Roboto" pitchFamily="34" charset="-122"/>
                <a:cs typeface="Roboto" pitchFamily="34" charset="-120"/>
              </a:rPr>
              <a:t>AtliQ Hardware operates across multiple markets and sales channels in the consumer electronics industry, generating large volumes of sales, customer, product, and forecast data. This project translates </a:t>
            </a:r>
            <a:r>
              <a:rPr lang="en-US" sz="1450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12 business requests</a:t>
            </a:r>
            <a:r>
              <a:rPr lang="en-US" sz="1450" dirty="0">
                <a:latin typeface="Roboto" pitchFamily="34" charset="0"/>
                <a:ea typeface="Roboto" pitchFamily="34" charset="-122"/>
                <a:cs typeface="Roboto" pitchFamily="34" charset="-120"/>
              </a:rPr>
              <a:t>  10 in Finance &amp; Sales Analytics and 2 in Supply Chain  into reusable SQL based reporting solutions.</a:t>
            </a:r>
            <a:endParaRPr lang="en-US" sz="14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E50FB67-F785-D901-F42F-4C1E943B4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3612" y="1454065"/>
            <a:ext cx="1206608" cy="11807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F2C7341-FAB9-A8A7-B40B-1764FEA01A08}"/>
              </a:ext>
            </a:extLst>
          </p:cNvPr>
          <p:cNvSpPr txBox="1"/>
          <p:nvPr/>
        </p:nvSpPr>
        <p:spPr>
          <a:xfrm>
            <a:off x="5233360" y="6446520"/>
            <a:ext cx="6379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</p:spTree>
    <p:extLst>
      <p:ext uri="{BB962C8B-B14F-4D97-AF65-F5344CB8AC3E}">
        <p14:creationId xmlns:p14="http://schemas.microsoft.com/office/powerpoint/2010/main" val="3501267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2A17C08-62CA-A2E9-2CD8-5A4C184CF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69D9216C-8F41-4659-04DB-F9F439E10D13}"/>
              </a:ext>
            </a:extLst>
          </p:cNvPr>
          <p:cNvSpPr/>
          <p:nvPr/>
        </p:nvSpPr>
        <p:spPr>
          <a:xfrm>
            <a:off x="661475" y="540941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Project Objectives</a:t>
            </a:r>
            <a:endParaRPr lang="en-US" sz="315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310F7D10-053A-DE76-88DD-7C144ECEBB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47775"/>
            <a:ext cx="321262" cy="321270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BBC62FA6-C0EC-C379-8890-767147E2A120}"/>
              </a:ext>
            </a:extLst>
          </p:cNvPr>
          <p:cNvSpPr/>
          <p:nvPr/>
        </p:nvSpPr>
        <p:spPr>
          <a:xfrm>
            <a:off x="661475" y="1739702"/>
            <a:ext cx="629686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Analyze Performance</a:t>
            </a:r>
            <a:endParaRPr lang="en-US" sz="155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1A62BE96-4BCF-6128-4BDA-5DDEC9B4CE8A}"/>
              </a:ext>
            </a:extLst>
          </p:cNvPr>
          <p:cNvSpPr/>
          <p:nvPr/>
        </p:nvSpPr>
        <p:spPr>
          <a:xfrm>
            <a:off x="661475" y="2072580"/>
            <a:ext cx="629686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latin typeface="Roboto" pitchFamily="34" charset="0"/>
                <a:ea typeface="Roboto" pitchFamily="34" charset="-122"/>
                <a:cs typeface="Roboto" pitchFamily="34" charset="-120"/>
              </a:rPr>
              <a:t>Evaluate sales, customer, market, and product performance across fiscal periods.</a:t>
            </a:r>
            <a:endParaRPr lang="en-US" sz="1250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3EBA5951-1C6E-4A3C-0672-B73ADDEAC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83359"/>
            <a:ext cx="321262" cy="321270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82DADB87-AA06-AE84-B319-8313A32131DB}"/>
              </a:ext>
            </a:extLst>
          </p:cNvPr>
          <p:cNvSpPr/>
          <p:nvPr/>
        </p:nvSpPr>
        <p:spPr>
          <a:xfrm>
            <a:off x="661475" y="3075285"/>
            <a:ext cx="629686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Build Repeatable Reports</a:t>
            </a:r>
            <a:endParaRPr lang="en-US" sz="155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3B360091-8693-53A0-D770-8A96F3C551E7}"/>
              </a:ext>
            </a:extLst>
          </p:cNvPr>
          <p:cNvSpPr/>
          <p:nvPr/>
        </p:nvSpPr>
        <p:spPr>
          <a:xfrm>
            <a:off x="661475" y="3408164"/>
            <a:ext cx="629686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latin typeface="Roboto" pitchFamily="34" charset="0"/>
                <a:ea typeface="Roboto" pitchFamily="34" charset="-122"/>
                <a:cs typeface="Roboto" pitchFamily="34" charset="-120"/>
              </a:rPr>
              <a:t>Develop reusable Finance &amp; Sales reports using SQL, stored procedures, and functions.</a:t>
            </a:r>
            <a:endParaRPr lang="en-US" sz="1250" dirty="0"/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C9C1DE43-9F1D-2840-0F75-479D21C3D3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918942"/>
            <a:ext cx="321262" cy="321270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E6F3CC89-7880-7C66-5FC8-0075C513670B}"/>
              </a:ext>
            </a:extLst>
          </p:cNvPr>
          <p:cNvSpPr/>
          <p:nvPr/>
        </p:nvSpPr>
        <p:spPr>
          <a:xfrm>
            <a:off x="661475" y="4410869"/>
            <a:ext cx="629686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Actual vs. Forecast</a:t>
            </a:r>
            <a:endParaRPr lang="en-US" sz="155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FB6380ED-255E-CD66-E7E2-90415629806B}"/>
              </a:ext>
            </a:extLst>
          </p:cNvPr>
          <p:cNvSpPr/>
          <p:nvPr/>
        </p:nvSpPr>
        <p:spPr>
          <a:xfrm>
            <a:off x="661475" y="4743748"/>
            <a:ext cx="629686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latin typeface="Roboto" pitchFamily="34" charset="0"/>
                <a:ea typeface="Roboto" pitchFamily="34" charset="-122"/>
                <a:cs typeface="Roboto" pitchFamily="34" charset="-120"/>
              </a:rPr>
              <a:t>Evaluate supply chain performance by comparing actual demand against forecasts.</a:t>
            </a:r>
            <a:endParaRPr lang="en-US" sz="1250" dirty="0"/>
          </a:p>
        </p:txBody>
      </p:sp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B9D00334-0DFE-A19B-8335-591D718E48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254526"/>
            <a:ext cx="321262" cy="321270"/>
          </a:xfrm>
          <a:prstGeom prst="rect">
            <a:avLst/>
          </a:prstGeom>
        </p:spPr>
      </p:pic>
      <p:sp>
        <p:nvSpPr>
          <p:cNvPr id="27" name="Text 7">
            <a:extLst>
              <a:ext uri="{FF2B5EF4-FFF2-40B4-BE49-F238E27FC236}">
                <a16:creationId xmlns:a16="http://schemas.microsoft.com/office/drawing/2014/main" id="{BEB7E0FD-70D3-2BEB-F132-0E9A8AAE9066}"/>
              </a:ext>
            </a:extLst>
          </p:cNvPr>
          <p:cNvSpPr/>
          <p:nvPr/>
        </p:nvSpPr>
        <p:spPr>
          <a:xfrm>
            <a:off x="661475" y="5746452"/>
            <a:ext cx="629686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Business Insights</a:t>
            </a:r>
            <a:endParaRPr lang="en-US" sz="155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80C92730-85F0-AA76-0DEE-454F387C45CF}"/>
              </a:ext>
            </a:extLst>
          </p:cNvPr>
          <p:cNvSpPr/>
          <p:nvPr/>
        </p:nvSpPr>
        <p:spPr>
          <a:xfrm>
            <a:off x="661475" y="6079331"/>
            <a:ext cx="629686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latin typeface="Roboto" pitchFamily="34" charset="0"/>
                <a:ea typeface="Roboto" pitchFamily="34" charset="-122"/>
                <a:cs typeface="Roboto" pitchFamily="34" charset="-120"/>
              </a:rPr>
              <a:t>Translate SQL outputs into actionable, business-focused insights for stakeholders.</a:t>
            </a:r>
            <a:endParaRPr lang="en-US" sz="12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C53BC3-B923-B3C4-2425-6D64C865227E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</p:spTree>
    <p:extLst>
      <p:ext uri="{BB962C8B-B14F-4D97-AF65-F5344CB8AC3E}">
        <p14:creationId xmlns:p14="http://schemas.microsoft.com/office/powerpoint/2010/main" val="1748235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>
            <a:extLst>
              <a:ext uri="{FF2B5EF4-FFF2-40B4-BE49-F238E27FC236}">
                <a16:creationId xmlns:a16="http://schemas.microsoft.com/office/drawing/2014/main" id="{09B220B4-69FB-0AD8-C1D4-9D23C9F816EB}"/>
              </a:ext>
            </a:extLst>
          </p:cNvPr>
          <p:cNvSpPr/>
          <p:nvPr/>
        </p:nvSpPr>
        <p:spPr>
          <a:xfrm>
            <a:off x="661475" y="7876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Project Scope at a Glance</a:t>
            </a:r>
            <a:endParaRPr lang="en-US" sz="3700" dirty="0"/>
          </a:p>
        </p:txBody>
      </p:sp>
      <p:sp>
        <p:nvSpPr>
          <p:cNvPr id="108" name="Text 1">
            <a:extLst>
              <a:ext uri="{FF2B5EF4-FFF2-40B4-BE49-F238E27FC236}">
                <a16:creationId xmlns:a16="http://schemas.microsoft.com/office/drawing/2014/main" id="{CA4E6A12-9E32-890F-55CF-8A9A5AEF5CD5}"/>
              </a:ext>
            </a:extLst>
          </p:cNvPr>
          <p:cNvSpPr/>
          <p:nvPr/>
        </p:nvSpPr>
        <p:spPr>
          <a:xfrm>
            <a:off x="661475" y="1850827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12</a:t>
            </a:r>
            <a:endParaRPr lang="en-US" sz="4900" dirty="0"/>
          </a:p>
        </p:txBody>
      </p:sp>
      <p:sp>
        <p:nvSpPr>
          <p:cNvPr id="110" name="Text 2">
            <a:extLst>
              <a:ext uri="{FF2B5EF4-FFF2-40B4-BE49-F238E27FC236}">
                <a16:creationId xmlns:a16="http://schemas.microsoft.com/office/drawing/2014/main" id="{45009EFB-84CA-21BB-1853-2C0C69BE8FAA}"/>
              </a:ext>
            </a:extLst>
          </p:cNvPr>
          <p:cNvSpPr/>
          <p:nvPr/>
        </p:nvSpPr>
        <p:spPr>
          <a:xfrm>
            <a:off x="661475" y="27107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Business Requests</a:t>
            </a:r>
            <a:endParaRPr lang="en-US" sz="1850" dirty="0"/>
          </a:p>
        </p:txBody>
      </p:sp>
      <p:sp>
        <p:nvSpPr>
          <p:cNvPr id="112" name="Text 3">
            <a:extLst>
              <a:ext uri="{FF2B5EF4-FFF2-40B4-BE49-F238E27FC236}">
                <a16:creationId xmlns:a16="http://schemas.microsoft.com/office/drawing/2014/main" id="{5B287C89-1D9D-9561-21EA-1E124FECC8AA}"/>
              </a:ext>
            </a:extLst>
          </p:cNvPr>
          <p:cNvSpPr/>
          <p:nvPr/>
        </p:nvSpPr>
        <p:spPr>
          <a:xfrm>
            <a:off x="661475" y="311943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latin typeface="Roboto" pitchFamily="34" charset="0"/>
                <a:ea typeface="Roboto" pitchFamily="34" charset="-122"/>
                <a:cs typeface="Roboto" pitchFamily="34" charset="-120"/>
              </a:rPr>
              <a:t>Total ad hoc analytical requests addressed across finance and supply chain</a:t>
            </a:r>
            <a:endParaRPr lang="en-US" sz="1450" dirty="0"/>
          </a:p>
        </p:txBody>
      </p:sp>
      <p:sp>
        <p:nvSpPr>
          <p:cNvPr id="114" name="Text 4">
            <a:extLst>
              <a:ext uri="{FF2B5EF4-FFF2-40B4-BE49-F238E27FC236}">
                <a16:creationId xmlns:a16="http://schemas.microsoft.com/office/drawing/2014/main" id="{51D63125-C95A-7606-F26F-8F0943CE050B}"/>
              </a:ext>
            </a:extLst>
          </p:cNvPr>
          <p:cNvSpPr/>
          <p:nvPr/>
        </p:nvSpPr>
        <p:spPr>
          <a:xfrm>
            <a:off x="6213915" y="1850827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10</a:t>
            </a:r>
            <a:endParaRPr lang="en-US" sz="4900" dirty="0"/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04FC9F76-BFF7-FFD9-A12C-A0C26BD1FDA6}"/>
              </a:ext>
            </a:extLst>
          </p:cNvPr>
          <p:cNvSpPr/>
          <p:nvPr/>
        </p:nvSpPr>
        <p:spPr>
          <a:xfrm>
            <a:off x="6213915" y="27107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Finance &amp; Sales</a:t>
            </a:r>
            <a:endParaRPr lang="en-US" sz="1850" dirty="0"/>
          </a:p>
        </p:txBody>
      </p:sp>
      <p:sp>
        <p:nvSpPr>
          <p:cNvPr id="118" name="Text 6">
            <a:extLst>
              <a:ext uri="{FF2B5EF4-FFF2-40B4-BE49-F238E27FC236}">
                <a16:creationId xmlns:a16="http://schemas.microsoft.com/office/drawing/2014/main" id="{E76B69EA-779C-6DBB-7ACB-2298F9456D5F}"/>
              </a:ext>
            </a:extLst>
          </p:cNvPr>
          <p:cNvSpPr/>
          <p:nvPr/>
        </p:nvSpPr>
        <p:spPr>
          <a:xfrm>
            <a:off x="6213915" y="31194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latin typeface="Roboto" pitchFamily="34" charset="0"/>
                <a:ea typeface="Roboto" pitchFamily="34" charset="-122"/>
                <a:cs typeface="Roboto" pitchFamily="34" charset="-120"/>
              </a:rPr>
              <a:t>Requests focused on revenue, customer, and product performance analytics</a:t>
            </a:r>
            <a:endParaRPr lang="en-US" sz="1450" dirty="0"/>
          </a:p>
        </p:txBody>
      </p:sp>
      <p:sp>
        <p:nvSpPr>
          <p:cNvPr id="120" name="Text 7">
            <a:extLst>
              <a:ext uri="{FF2B5EF4-FFF2-40B4-BE49-F238E27FC236}">
                <a16:creationId xmlns:a16="http://schemas.microsoft.com/office/drawing/2014/main" id="{94368C56-9717-F8DC-F9AC-D30AE5A05320}"/>
              </a:ext>
            </a:extLst>
          </p:cNvPr>
          <p:cNvSpPr/>
          <p:nvPr/>
        </p:nvSpPr>
        <p:spPr>
          <a:xfrm>
            <a:off x="661475" y="4196755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4900" dirty="0"/>
          </a:p>
        </p:txBody>
      </p:sp>
      <p:sp>
        <p:nvSpPr>
          <p:cNvPr id="122" name="Text 8">
            <a:extLst>
              <a:ext uri="{FF2B5EF4-FFF2-40B4-BE49-F238E27FC236}">
                <a16:creationId xmlns:a16="http://schemas.microsoft.com/office/drawing/2014/main" id="{61BB882F-1B8C-86AE-8828-A4C0C9C455B7}"/>
              </a:ext>
            </a:extLst>
          </p:cNvPr>
          <p:cNvSpPr/>
          <p:nvPr/>
        </p:nvSpPr>
        <p:spPr>
          <a:xfrm>
            <a:off x="661475" y="505668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Supply Chain</a:t>
            </a:r>
            <a:endParaRPr lang="en-US" sz="1850" dirty="0"/>
          </a:p>
        </p:txBody>
      </p:sp>
      <p:sp>
        <p:nvSpPr>
          <p:cNvPr id="124" name="Text 9">
            <a:extLst>
              <a:ext uri="{FF2B5EF4-FFF2-40B4-BE49-F238E27FC236}">
                <a16:creationId xmlns:a16="http://schemas.microsoft.com/office/drawing/2014/main" id="{8692F450-0737-1D00-1848-29AB019EA5BF}"/>
              </a:ext>
            </a:extLst>
          </p:cNvPr>
          <p:cNvSpPr/>
          <p:nvPr/>
        </p:nvSpPr>
        <p:spPr>
          <a:xfrm>
            <a:off x="661475" y="5465366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latin typeface="Roboto" pitchFamily="34" charset="0"/>
                <a:ea typeface="Roboto" pitchFamily="34" charset="-122"/>
                <a:cs typeface="Roboto" pitchFamily="34" charset="-120"/>
              </a:rPr>
              <a:t>Requests evaluating forecast accuracy and demand planning</a:t>
            </a:r>
            <a:endParaRPr lang="en-US" sz="1450" dirty="0"/>
          </a:p>
        </p:txBody>
      </p:sp>
      <p:sp>
        <p:nvSpPr>
          <p:cNvPr id="126" name="Text 10">
            <a:extLst>
              <a:ext uri="{FF2B5EF4-FFF2-40B4-BE49-F238E27FC236}">
                <a16:creationId xmlns:a16="http://schemas.microsoft.com/office/drawing/2014/main" id="{FA317CA2-13A6-ED6D-8AD3-DE097F647ED5}"/>
              </a:ext>
            </a:extLst>
          </p:cNvPr>
          <p:cNvSpPr/>
          <p:nvPr/>
        </p:nvSpPr>
        <p:spPr>
          <a:xfrm>
            <a:off x="6213915" y="4196755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5</a:t>
            </a:r>
            <a:endParaRPr lang="en-US" sz="4900" dirty="0"/>
          </a:p>
        </p:txBody>
      </p:sp>
      <p:sp>
        <p:nvSpPr>
          <p:cNvPr id="128" name="Text 11">
            <a:extLst>
              <a:ext uri="{FF2B5EF4-FFF2-40B4-BE49-F238E27FC236}">
                <a16:creationId xmlns:a16="http://schemas.microsoft.com/office/drawing/2014/main" id="{37A715AC-126E-1DF0-A244-935EDF42E2BE}"/>
              </a:ext>
            </a:extLst>
          </p:cNvPr>
          <p:cNvSpPr/>
          <p:nvPr/>
        </p:nvSpPr>
        <p:spPr>
          <a:xfrm>
            <a:off x="6213915" y="505668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SQL Techniques</a:t>
            </a:r>
            <a:endParaRPr lang="en-US" sz="1850" dirty="0"/>
          </a:p>
        </p:txBody>
      </p:sp>
      <p:sp>
        <p:nvSpPr>
          <p:cNvPr id="130" name="Text 12">
            <a:extLst>
              <a:ext uri="{FF2B5EF4-FFF2-40B4-BE49-F238E27FC236}">
                <a16:creationId xmlns:a16="http://schemas.microsoft.com/office/drawing/2014/main" id="{D85E69D4-DBDA-18C8-D32C-A0D648D65C92}"/>
              </a:ext>
            </a:extLst>
          </p:cNvPr>
          <p:cNvSpPr/>
          <p:nvPr/>
        </p:nvSpPr>
        <p:spPr>
          <a:xfrm>
            <a:off x="6213915" y="5465366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latin typeface="Roboto" pitchFamily="34" charset="0"/>
                <a:ea typeface="Roboto" pitchFamily="34" charset="-122"/>
                <a:cs typeface="Roboto" pitchFamily="34" charset="-120"/>
              </a:rPr>
              <a:t> CTEs, window functions, joins, and stored procedures applied</a:t>
            </a:r>
            <a:endParaRPr lang="en-US" sz="1450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448A1C7-8925-2CBB-024B-9107F03BED1C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</p:spTree>
    <p:extLst>
      <p:ext uri="{BB962C8B-B14F-4D97-AF65-F5344CB8AC3E}">
        <p14:creationId xmlns:p14="http://schemas.microsoft.com/office/powerpoint/2010/main" val="4182503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87A8CFB-96B2-2B23-249A-759DD158188A}"/>
              </a:ext>
            </a:extLst>
          </p:cNvPr>
          <p:cNvSpPr/>
          <p:nvPr/>
        </p:nvSpPr>
        <p:spPr>
          <a:xfrm>
            <a:off x="661475" y="772517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ER Diagram — Data Model Overview</a:t>
            </a:r>
            <a:endParaRPr lang="en-US" sz="35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AAA0A4-7F65-0F7B-4862-D02126991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53" y="1760141"/>
            <a:ext cx="10205882" cy="44683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C5587F8-9E2A-AF99-A81F-652523A681CA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</p:spTree>
    <p:extLst>
      <p:ext uri="{BB962C8B-B14F-4D97-AF65-F5344CB8AC3E}">
        <p14:creationId xmlns:p14="http://schemas.microsoft.com/office/powerpoint/2010/main" val="1703368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EF1E69B-F10E-20BB-5F8F-C73C9F4FE248}"/>
              </a:ext>
            </a:extLst>
          </p:cNvPr>
          <p:cNvSpPr/>
          <p:nvPr/>
        </p:nvSpPr>
        <p:spPr>
          <a:xfrm>
            <a:off x="661475" y="10679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Finance Analytics — Croma India</a:t>
            </a:r>
            <a:endParaRPr lang="en-US" sz="370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59077C62-F99E-F7A4-3347-8C1EB72524F1}"/>
              </a:ext>
            </a:extLst>
          </p:cNvPr>
          <p:cNvSpPr/>
          <p:nvPr/>
        </p:nvSpPr>
        <p:spPr>
          <a:xfrm>
            <a:off x="661475" y="2036663"/>
            <a:ext cx="1582202" cy="401737"/>
          </a:xfrm>
          <a:prstGeom prst="roundRect">
            <a:avLst>
              <a:gd name="adj" fmla="val 22118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6580940-2A18-BA65-1DD8-A31BC96B913D}"/>
              </a:ext>
            </a:extLst>
          </p:cNvPr>
          <p:cNvSpPr/>
          <p:nvPr/>
        </p:nvSpPr>
        <p:spPr>
          <a:xfrm>
            <a:off x="774879" y="2093317"/>
            <a:ext cx="1468798" cy="2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REQUEST #1</a:t>
            </a:r>
            <a:r>
              <a:rPr lang="en-US" sz="1150" dirty="0"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150" b="1" dirty="0">
              <a:solidFill>
                <a:schemeClr val="bg1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229A3217-5AED-477A-567D-921C95D5268F}"/>
              </a:ext>
            </a:extLst>
          </p:cNvPr>
          <p:cNvSpPr/>
          <p:nvPr/>
        </p:nvSpPr>
        <p:spPr>
          <a:xfrm>
            <a:off x="774879" y="2536428"/>
            <a:ext cx="1075534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spcAft>
                <a:spcPts val="1000"/>
              </a:spcAft>
              <a:defRPr sz="1900"/>
            </a:pPr>
            <a:r>
              <a:rPr lang="en-US" sz="1600" dirty="0"/>
              <a:t>As a product owner, I want to generate a report of individual product sales(aggregated on a monthly basis at the  product code level) for Croma India customers for FY = 2021 so that </a:t>
            </a:r>
            <a:r>
              <a:rPr lang="en-US" sz="1600" dirty="0" err="1"/>
              <a:t>i</a:t>
            </a:r>
            <a:r>
              <a:rPr lang="en-US" sz="1600" dirty="0"/>
              <a:t> can track individual product sales and run further product analytics on it in excel.</a:t>
            </a: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653FFCCD-56CD-CC94-5795-212EF90F2AD7}"/>
              </a:ext>
            </a:extLst>
          </p:cNvPr>
          <p:cNvSpPr/>
          <p:nvPr/>
        </p:nvSpPr>
        <p:spPr>
          <a:xfrm>
            <a:off x="661475" y="3353891"/>
            <a:ext cx="5339820" cy="685998"/>
          </a:xfrm>
          <a:prstGeom prst="roundRect">
            <a:avLst>
              <a:gd name="adj" fmla="val 1157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29995E22-CEE3-3CA9-C04B-83CB528426B1}"/>
              </a:ext>
            </a:extLst>
          </p:cNvPr>
          <p:cNvSpPr/>
          <p:nvPr/>
        </p:nvSpPr>
        <p:spPr>
          <a:xfrm>
            <a:off x="856832" y="354925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Month</a:t>
            </a:r>
            <a:endParaRPr lang="en-US" sz="1850" dirty="0">
              <a:solidFill>
                <a:schemeClr val="bg1"/>
              </a:solidFill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3246383B-7ADB-A1F7-0391-B52DF020456B}"/>
              </a:ext>
            </a:extLst>
          </p:cNvPr>
          <p:cNvSpPr/>
          <p:nvPr/>
        </p:nvSpPr>
        <p:spPr>
          <a:xfrm>
            <a:off x="6190301" y="3353891"/>
            <a:ext cx="5339919" cy="685998"/>
          </a:xfrm>
          <a:prstGeom prst="roundRect">
            <a:avLst>
              <a:gd name="adj" fmla="val 1157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CE63B84D-7465-4268-CF30-E2731280E232}"/>
              </a:ext>
            </a:extLst>
          </p:cNvPr>
          <p:cNvSpPr/>
          <p:nvPr/>
        </p:nvSpPr>
        <p:spPr>
          <a:xfrm>
            <a:off x="6385658" y="3549253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Product</a:t>
            </a:r>
            <a:r>
              <a:rPr lang="en-US" sz="18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</a:t>
            </a: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Name</a:t>
            </a: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1A4359D4-0718-808A-9B26-4D92897B7C45}"/>
              </a:ext>
            </a:extLst>
          </p:cNvPr>
          <p:cNvSpPr/>
          <p:nvPr/>
        </p:nvSpPr>
        <p:spPr>
          <a:xfrm>
            <a:off x="661475" y="4228902"/>
            <a:ext cx="5339820" cy="685998"/>
          </a:xfrm>
          <a:prstGeom prst="roundRect">
            <a:avLst>
              <a:gd name="adj" fmla="val 1157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F7EF48C8-9061-5526-7704-C06099F74077}"/>
              </a:ext>
            </a:extLst>
          </p:cNvPr>
          <p:cNvSpPr/>
          <p:nvPr/>
        </p:nvSpPr>
        <p:spPr>
          <a:xfrm>
            <a:off x="856832" y="442426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Variant</a:t>
            </a:r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CE91B81B-162A-454D-0FA3-8D77E97A20BD}"/>
              </a:ext>
            </a:extLst>
          </p:cNvPr>
          <p:cNvSpPr/>
          <p:nvPr/>
        </p:nvSpPr>
        <p:spPr>
          <a:xfrm>
            <a:off x="6190301" y="4228902"/>
            <a:ext cx="5339919" cy="685998"/>
          </a:xfrm>
          <a:prstGeom prst="roundRect">
            <a:avLst>
              <a:gd name="adj" fmla="val 1157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89E266EC-992E-E243-CDF6-526D1B737C28}"/>
              </a:ext>
            </a:extLst>
          </p:cNvPr>
          <p:cNvSpPr/>
          <p:nvPr/>
        </p:nvSpPr>
        <p:spPr>
          <a:xfrm>
            <a:off x="6385658" y="4424263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Sold</a:t>
            </a:r>
            <a:r>
              <a:rPr lang="en-US" sz="18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</a:t>
            </a: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Quantity</a:t>
            </a: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1C92DE66-7D4C-237D-04A2-9B5FBD8473F5}"/>
              </a:ext>
            </a:extLst>
          </p:cNvPr>
          <p:cNvSpPr/>
          <p:nvPr/>
        </p:nvSpPr>
        <p:spPr>
          <a:xfrm>
            <a:off x="661475" y="5103912"/>
            <a:ext cx="5339820" cy="685998"/>
          </a:xfrm>
          <a:prstGeom prst="roundRect">
            <a:avLst>
              <a:gd name="adj" fmla="val 1157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F0932D91-69EE-A82F-29D1-660450DAE4B3}"/>
              </a:ext>
            </a:extLst>
          </p:cNvPr>
          <p:cNvSpPr/>
          <p:nvPr/>
        </p:nvSpPr>
        <p:spPr>
          <a:xfrm>
            <a:off x="856832" y="529927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Gross</a:t>
            </a:r>
            <a:r>
              <a:rPr lang="en-US" sz="18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</a:t>
            </a: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Price</a:t>
            </a:r>
            <a:r>
              <a:rPr lang="en-US" sz="18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</a:t>
            </a: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/</a:t>
            </a:r>
            <a:r>
              <a:rPr lang="en-US" sz="18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</a:t>
            </a: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Item</a:t>
            </a:r>
            <a:endParaRPr lang="en-US" sz="1850" dirty="0">
              <a:solidFill>
                <a:schemeClr val="bg1"/>
              </a:solidFill>
            </a:endParaRPr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145E00EB-4045-D1E5-5C39-C7D07070A5E2}"/>
              </a:ext>
            </a:extLst>
          </p:cNvPr>
          <p:cNvSpPr/>
          <p:nvPr/>
        </p:nvSpPr>
        <p:spPr>
          <a:xfrm>
            <a:off x="6190301" y="5103912"/>
            <a:ext cx="5339919" cy="685998"/>
          </a:xfrm>
          <a:prstGeom prst="roundRect">
            <a:avLst>
              <a:gd name="adj" fmla="val 1157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9C9753A4-CC79-A613-0057-625AF0AA12DB}"/>
              </a:ext>
            </a:extLst>
          </p:cNvPr>
          <p:cNvSpPr/>
          <p:nvPr/>
        </p:nvSpPr>
        <p:spPr>
          <a:xfrm>
            <a:off x="6385658" y="5299273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Gross Price Total</a:t>
            </a:r>
            <a:endParaRPr lang="en-US" sz="1850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5BAB9D-22C2-B94B-C0F3-70256AE9CFDA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</p:spTree>
    <p:extLst>
      <p:ext uri="{BB962C8B-B14F-4D97-AF65-F5344CB8AC3E}">
        <p14:creationId xmlns:p14="http://schemas.microsoft.com/office/powerpoint/2010/main" val="2545384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CEBDFC1-B277-EF9C-4A2F-4B1AAD16AB53}"/>
              </a:ext>
            </a:extLst>
          </p:cNvPr>
          <p:cNvSpPr/>
          <p:nvPr/>
        </p:nvSpPr>
        <p:spPr>
          <a:xfrm>
            <a:off x="661475" y="77470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Request #1 — SQL Implementation &amp; Output</a:t>
            </a:r>
            <a:endParaRPr lang="en-US" sz="27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51B3914-82FE-0DD0-E04F-1A17B88FB1CB}"/>
              </a:ext>
            </a:extLst>
          </p:cNvPr>
          <p:cNvSpPr/>
          <p:nvPr/>
        </p:nvSpPr>
        <p:spPr>
          <a:xfrm>
            <a:off x="661475" y="1483420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SQL Query</a:t>
            </a:r>
            <a:endParaRPr lang="en-US" sz="13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E29B64C6-77DB-D0DB-9D24-A34EE5AACA8D}"/>
              </a:ext>
            </a:extLst>
          </p:cNvPr>
          <p:cNvSpPr/>
          <p:nvPr/>
        </p:nvSpPr>
        <p:spPr>
          <a:xfrm>
            <a:off x="661475" y="1824434"/>
            <a:ext cx="3579227" cy="4139208"/>
          </a:xfrm>
          <a:prstGeom prst="roundRect">
            <a:avLst>
              <a:gd name="adj" fmla="val 1664"/>
            </a:avLst>
          </a:prstGeom>
          <a:solidFill>
            <a:srgbClr val="0D0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4C8405-2B03-D5E9-0DE1-1BF8BA9EFEE6}"/>
              </a:ext>
            </a:extLst>
          </p:cNvPr>
          <p:cNvSpPr/>
          <p:nvPr/>
        </p:nvSpPr>
        <p:spPr>
          <a:xfrm>
            <a:off x="831532" y="1966119"/>
            <a:ext cx="3239113" cy="3855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s.date,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s.product_code,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p.product,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p.variant,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s.sold_quantity,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g.gross_price,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ROUND(s.sold_quantity * g.gross_price, 2)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gross_price_total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fact_sales_monthly s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dim_product p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s.product_code = p.product_code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fact_gross_price g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g.fiscal_year = get_fiscal_year(s.date)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g.product_code = s.product_code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customer_code = 90002002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get_fiscal_year(s.date) = 2021</a:t>
            </a:r>
            <a:endParaRPr lang="en-US" sz="1100" b="1" dirty="0">
              <a:solidFill>
                <a:schemeClr val="bg1"/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1000000;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8377B54-C99C-863C-6FE8-00A6E0A3003C}"/>
              </a:ext>
            </a:extLst>
          </p:cNvPr>
          <p:cNvSpPr/>
          <p:nvPr/>
        </p:nvSpPr>
        <p:spPr>
          <a:xfrm>
            <a:off x="4592919" y="1828006"/>
            <a:ext cx="694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Output Preview</a:t>
            </a:r>
            <a:endParaRPr lang="en-US" sz="13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C8807FA9-A016-C168-A15F-65766F3F6505}"/>
              </a:ext>
            </a:extLst>
          </p:cNvPr>
          <p:cNvSpPr/>
          <p:nvPr/>
        </p:nvSpPr>
        <p:spPr>
          <a:xfrm>
            <a:off x="4592919" y="5239643"/>
            <a:ext cx="6943551" cy="403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latin typeface="Roboto" pitchFamily="34" charset="0"/>
                <a:ea typeface="Roboto" pitchFamily="34" charset="-122"/>
                <a:cs typeface="Roboto" pitchFamily="34" charset="-120"/>
              </a:rPr>
              <a:t>Query joins three tables, filters for Croma India (</a:t>
            </a:r>
            <a:r>
              <a:rPr lang="en-US" sz="1100" dirty="0">
                <a:solidFill>
                  <a:schemeClr val="bg1"/>
                </a:solidFill>
                <a:highlight>
                  <a:srgbClr val="0D0D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customer_code = 90002002</a:t>
            </a:r>
            <a:r>
              <a:rPr lang="en-US" sz="1100" dirty="0">
                <a:latin typeface="Roboto" pitchFamily="34" charset="0"/>
                <a:ea typeface="Roboto" pitchFamily="34" charset="-122"/>
                <a:cs typeface="Roboto" pitchFamily="34" charset="-120"/>
              </a:rPr>
              <a:t>), and calculates gross price totals per product per month in FY 2021.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0342EB9-1BF3-0BAE-DFBD-7F1485651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919" y="2220763"/>
            <a:ext cx="6858594" cy="258777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A42987-84D2-B97F-CF89-9F4CBB0EA4A5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</p:spTree>
    <p:extLst>
      <p:ext uri="{BB962C8B-B14F-4D97-AF65-F5344CB8AC3E}">
        <p14:creationId xmlns:p14="http://schemas.microsoft.com/office/powerpoint/2010/main" val="844293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B9184-169C-1320-8F01-075EECE0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57894B3-B101-C3C8-2F6B-A7FC744874A7}"/>
              </a:ext>
            </a:extLst>
          </p:cNvPr>
          <p:cNvSpPr/>
          <p:nvPr/>
        </p:nvSpPr>
        <p:spPr>
          <a:xfrm>
            <a:off x="661475" y="10679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Finance Analytics — Croma India</a:t>
            </a:r>
            <a:endParaRPr lang="en-US" sz="370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9A64DB28-72F3-B7DA-27AC-570D78D506AC}"/>
              </a:ext>
            </a:extLst>
          </p:cNvPr>
          <p:cNvSpPr/>
          <p:nvPr/>
        </p:nvSpPr>
        <p:spPr>
          <a:xfrm>
            <a:off x="661475" y="2036663"/>
            <a:ext cx="1582202" cy="401737"/>
          </a:xfrm>
          <a:prstGeom prst="roundRect">
            <a:avLst>
              <a:gd name="adj" fmla="val 22118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487969BF-4ECB-1F4B-4FBB-66D8DD9E20E1}"/>
              </a:ext>
            </a:extLst>
          </p:cNvPr>
          <p:cNvSpPr/>
          <p:nvPr/>
        </p:nvSpPr>
        <p:spPr>
          <a:xfrm>
            <a:off x="774879" y="2093317"/>
            <a:ext cx="1468798" cy="2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REQUEST #2</a:t>
            </a:r>
            <a:r>
              <a:rPr lang="en-US" sz="1150" dirty="0"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150" b="1" dirty="0">
              <a:solidFill>
                <a:schemeClr val="bg1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BFDFF8A8-639C-6AEE-BB7C-DB26300841E3}"/>
              </a:ext>
            </a:extLst>
          </p:cNvPr>
          <p:cNvSpPr/>
          <p:nvPr/>
        </p:nvSpPr>
        <p:spPr>
          <a:xfrm>
            <a:off x="774879" y="2536428"/>
            <a:ext cx="1075534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spcAft>
                <a:spcPts val="1000"/>
              </a:spcAft>
              <a:defRPr sz="1900"/>
            </a:pPr>
            <a:r>
              <a:rPr lang="en-US" sz="1600" dirty="0"/>
              <a:t>As a product owner, I need an aggregate monthly gross sales report for Croma India customer so that I can track how much sales this particular customer is generating for AtliQ and manage our relationships accordingly, The report should have the following fields</a:t>
            </a: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AB62036E-A4F9-C9FB-854B-CC2AC1937958}"/>
              </a:ext>
            </a:extLst>
          </p:cNvPr>
          <p:cNvSpPr/>
          <p:nvPr/>
        </p:nvSpPr>
        <p:spPr>
          <a:xfrm>
            <a:off x="661475" y="3353891"/>
            <a:ext cx="5339820" cy="685998"/>
          </a:xfrm>
          <a:prstGeom prst="roundRect">
            <a:avLst>
              <a:gd name="adj" fmla="val 1157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6FC14307-E22D-C9A3-3B85-C03F875BB726}"/>
              </a:ext>
            </a:extLst>
          </p:cNvPr>
          <p:cNvSpPr/>
          <p:nvPr/>
        </p:nvSpPr>
        <p:spPr>
          <a:xfrm>
            <a:off x="856832" y="354925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Month</a:t>
            </a:r>
            <a:endParaRPr lang="en-US" sz="1850" dirty="0">
              <a:solidFill>
                <a:schemeClr val="bg1"/>
              </a:solidFill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DDB10301-DD8D-9887-159A-4EBC3E5C1538}"/>
              </a:ext>
            </a:extLst>
          </p:cNvPr>
          <p:cNvSpPr/>
          <p:nvPr/>
        </p:nvSpPr>
        <p:spPr>
          <a:xfrm>
            <a:off x="6190707" y="3336628"/>
            <a:ext cx="4614945" cy="1336096"/>
          </a:xfrm>
          <a:prstGeom prst="roundRect">
            <a:avLst>
              <a:gd name="adj" fmla="val 1157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4F7CEFAE-587B-4B6C-F0E8-BE0288319A1F}"/>
              </a:ext>
            </a:extLst>
          </p:cNvPr>
          <p:cNvSpPr/>
          <p:nvPr/>
        </p:nvSpPr>
        <p:spPr>
          <a:xfrm>
            <a:off x="6385658" y="3549253"/>
            <a:ext cx="4949205" cy="92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Total gross sales amount to Croma India </a:t>
            </a:r>
          </a:p>
          <a:p>
            <a:pPr>
              <a:lnSpc>
                <a:spcPct val="104000"/>
              </a:lnSpc>
            </a:pP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in this month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47A155-05E7-86D9-A2A0-D648843F3128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</p:spTree>
    <p:extLst>
      <p:ext uri="{BB962C8B-B14F-4D97-AF65-F5344CB8AC3E}">
        <p14:creationId xmlns:p14="http://schemas.microsoft.com/office/powerpoint/2010/main" val="3726188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19B0B8F-2295-176F-6F71-7919B10162ED}"/>
              </a:ext>
            </a:extLst>
          </p:cNvPr>
          <p:cNvSpPr/>
          <p:nvPr/>
        </p:nvSpPr>
        <p:spPr>
          <a:xfrm>
            <a:off x="661475" y="77470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Request #2 — SQL Implementation &amp; Output</a:t>
            </a:r>
            <a:endParaRPr lang="en-US" sz="27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FD8015D-CDC2-99BD-223A-0D687E3E6274}"/>
              </a:ext>
            </a:extLst>
          </p:cNvPr>
          <p:cNvSpPr/>
          <p:nvPr/>
        </p:nvSpPr>
        <p:spPr>
          <a:xfrm>
            <a:off x="661475" y="1483420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SQL Query</a:t>
            </a:r>
            <a:endParaRPr lang="en-US" sz="13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F464A0D-9839-DB59-1952-A10A6E8A0BBA}"/>
              </a:ext>
            </a:extLst>
          </p:cNvPr>
          <p:cNvSpPr/>
          <p:nvPr/>
        </p:nvSpPr>
        <p:spPr>
          <a:xfrm>
            <a:off x="661475" y="1824434"/>
            <a:ext cx="3579227" cy="4139208"/>
          </a:xfrm>
          <a:prstGeom prst="roundRect">
            <a:avLst>
              <a:gd name="adj" fmla="val 1664"/>
            </a:avLst>
          </a:prstGeom>
          <a:solidFill>
            <a:srgbClr val="0D0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25DA828-7B86-F252-CCA2-DE517C57B9B9}"/>
              </a:ext>
            </a:extLst>
          </p:cNvPr>
          <p:cNvSpPr/>
          <p:nvPr/>
        </p:nvSpPr>
        <p:spPr>
          <a:xfrm>
            <a:off x="831532" y="1966119"/>
            <a:ext cx="3239113" cy="3855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SELECT </a:t>
            </a:r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            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</a:rPr>
              <a:t>s.date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, </a:t>
            </a:r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    	SUM(ROUND(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</a:rPr>
              <a:t>s.sold_quantity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*g.gross_price,2))    	as 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</a:rPr>
              <a:t>monthly_sales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FROM 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</a:rPr>
              <a:t>fact_sales_monthly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 s</a:t>
            </a:r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JOIN 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</a:rPr>
              <a:t>fact_gross_price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 g</a:t>
            </a:r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        ON 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</a:rPr>
              <a:t>g.fiscal_year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=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</a:rPr>
              <a:t>get_fiscal_year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</a:rPr>
              <a:t>s.date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) AND 	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</a:rPr>
              <a:t>g.product_code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=</a:t>
            </a:r>
            <a:r>
              <a:rPr lang="en-US" sz="1100" dirty="0" err="1">
                <a:solidFill>
                  <a:schemeClr val="bg1">
                    <a:lumMod val="95000"/>
                  </a:schemeClr>
                </a:solidFill>
              </a:rPr>
              <a:t>s.product_code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WHERE </a:t>
            </a:r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             customer_code=90002002</a:t>
            </a:r>
          </a:p>
          <a:p>
            <a:pPr>
              <a:lnSpc>
                <a:spcPct val="133000"/>
              </a:lnSpc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</a:rPr>
              <a:t>	GROUP BY date;</a:t>
            </a: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BF713350-AA10-1AD8-6B81-A9751205FAD0}"/>
              </a:ext>
            </a:extLst>
          </p:cNvPr>
          <p:cNvSpPr/>
          <p:nvPr/>
        </p:nvSpPr>
        <p:spPr>
          <a:xfrm>
            <a:off x="4592919" y="1828006"/>
            <a:ext cx="694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Output Preview</a:t>
            </a:r>
            <a:endParaRPr lang="en-US" sz="13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42C105BE-B7A8-46CF-C0E4-61CA09B358CD}"/>
              </a:ext>
            </a:extLst>
          </p:cNvPr>
          <p:cNvSpPr/>
          <p:nvPr/>
        </p:nvSpPr>
        <p:spPr>
          <a:xfrm>
            <a:off x="4592919" y="5239643"/>
            <a:ext cx="6943551" cy="403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latin typeface="Roboto" pitchFamily="34" charset="0"/>
                <a:ea typeface="Roboto" pitchFamily="34" charset="-122"/>
                <a:cs typeface="Roboto" pitchFamily="34" charset="-120"/>
              </a:rPr>
              <a:t>Query joins three tables, filters for Croma India (</a:t>
            </a:r>
            <a:r>
              <a:rPr lang="en-US" sz="1100" dirty="0">
                <a:solidFill>
                  <a:schemeClr val="bg1">
                    <a:lumMod val="95000"/>
                  </a:schemeClr>
                </a:solidFill>
                <a:highlight>
                  <a:srgbClr val="0D0D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customer_code = 90002002</a:t>
            </a:r>
            <a:r>
              <a:rPr lang="en-US" sz="1100" dirty="0">
                <a:latin typeface="Roboto" pitchFamily="34" charset="0"/>
                <a:ea typeface="Roboto" pitchFamily="34" charset="-122"/>
                <a:cs typeface="Roboto" pitchFamily="34" charset="-120"/>
              </a:rPr>
              <a:t>), and calculates gross price totals per product per month in FY 2021.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C8E5D8C-E470-7D13-7F31-2EE13A014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519" y="2231923"/>
            <a:ext cx="4695209" cy="257661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F59C5E2-F216-2320-26A6-63D6E0861DB4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</p:spTree>
    <p:extLst>
      <p:ext uri="{BB962C8B-B14F-4D97-AF65-F5344CB8AC3E}">
        <p14:creationId xmlns:p14="http://schemas.microsoft.com/office/powerpoint/2010/main" val="2786616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84049-CE42-9A3F-E7EA-2E055A89C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>
            <a:extLst>
              <a:ext uri="{FF2B5EF4-FFF2-40B4-BE49-F238E27FC236}">
                <a16:creationId xmlns:a16="http://schemas.microsoft.com/office/drawing/2014/main" id="{14A26A15-A608-F2A2-8BE1-69673347F92F}"/>
              </a:ext>
            </a:extLst>
          </p:cNvPr>
          <p:cNvSpPr/>
          <p:nvPr/>
        </p:nvSpPr>
        <p:spPr>
          <a:xfrm>
            <a:off x="661475" y="562372"/>
            <a:ext cx="10868745" cy="494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Croma India — Yearly Gross Sales (FY 2018–2022)</a:t>
            </a:r>
            <a:endParaRPr lang="en-US" sz="3100" dirty="0"/>
          </a:p>
        </p:txBody>
      </p:sp>
      <p:sp>
        <p:nvSpPr>
          <p:cNvPr id="56" name="Text 2">
            <a:extLst>
              <a:ext uri="{FF2B5EF4-FFF2-40B4-BE49-F238E27FC236}">
                <a16:creationId xmlns:a16="http://schemas.microsoft.com/office/drawing/2014/main" id="{9A8495DD-8224-E74C-FE99-227E72D3A098}"/>
              </a:ext>
            </a:extLst>
          </p:cNvPr>
          <p:cNvSpPr/>
          <p:nvPr/>
        </p:nvSpPr>
        <p:spPr>
          <a:xfrm>
            <a:off x="756326" y="1368623"/>
            <a:ext cx="1328307" cy="145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REQUE #3</a:t>
            </a:r>
            <a:endParaRPr lang="en-US" sz="950" dirty="0">
              <a:solidFill>
                <a:schemeClr val="bg1"/>
              </a:solidFill>
            </a:endParaRPr>
          </a:p>
        </p:txBody>
      </p:sp>
      <p:pic>
        <p:nvPicPr>
          <p:cNvPr id="62" name="Image 0" descr="preencoded.png">
            <a:extLst>
              <a:ext uri="{FF2B5EF4-FFF2-40B4-BE49-F238E27FC236}">
                <a16:creationId xmlns:a16="http://schemas.microsoft.com/office/drawing/2014/main" id="{F4C89B8B-7343-707A-61AB-605FB685E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70" y="3308528"/>
            <a:ext cx="4744538" cy="32086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</p:pic>
      <p:sp>
        <p:nvSpPr>
          <p:cNvPr id="64" name="Text 5">
            <a:extLst>
              <a:ext uri="{FF2B5EF4-FFF2-40B4-BE49-F238E27FC236}">
                <a16:creationId xmlns:a16="http://schemas.microsoft.com/office/drawing/2014/main" id="{B9D81062-7635-006C-9A04-7AF573D0954B}"/>
              </a:ext>
            </a:extLst>
          </p:cNvPr>
          <p:cNvSpPr/>
          <p:nvPr/>
        </p:nvSpPr>
        <p:spPr>
          <a:xfrm>
            <a:off x="6288724" y="2239202"/>
            <a:ext cx="5241496" cy="247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Key Insight</a:t>
            </a:r>
            <a:endParaRPr lang="en-US" sz="1550" dirty="0"/>
          </a:p>
        </p:txBody>
      </p:sp>
      <p:sp>
        <p:nvSpPr>
          <p:cNvPr id="66" name="Text 6">
            <a:extLst>
              <a:ext uri="{FF2B5EF4-FFF2-40B4-BE49-F238E27FC236}">
                <a16:creationId xmlns:a16="http://schemas.microsoft.com/office/drawing/2014/main" id="{5F6D1634-3B33-6AD6-E9A3-7E35C340300A}"/>
              </a:ext>
            </a:extLst>
          </p:cNvPr>
          <p:cNvSpPr/>
          <p:nvPr/>
        </p:nvSpPr>
        <p:spPr>
          <a:xfrm>
            <a:off x="6295074" y="2520934"/>
            <a:ext cx="5241496" cy="929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latin typeface="Roboto" pitchFamily="34" charset="0"/>
                <a:ea typeface="Roboto" pitchFamily="34" charset="-122"/>
                <a:cs typeface="Roboto" pitchFamily="34" charset="-120"/>
              </a:rPr>
              <a:t>Croma India's gross sales grew from </a:t>
            </a:r>
            <a:r>
              <a:rPr lang="en-US" sz="1200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$1.32M in FY2018</a:t>
            </a:r>
            <a:r>
              <a:rPr lang="en-US" sz="1200" dirty="0">
                <a:latin typeface="Roboto" pitchFamily="34" charset="0"/>
                <a:ea typeface="Roboto" pitchFamily="34" charset="-122"/>
                <a:cs typeface="Roboto" pitchFamily="34" charset="-120"/>
              </a:rPr>
              <a:t> to </a:t>
            </a:r>
            <a:r>
              <a:rPr lang="en-US" sz="1200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$44.64M in FY2022</a:t>
            </a:r>
            <a:r>
              <a:rPr lang="en-US" sz="1200" dirty="0">
                <a:latin typeface="Roboto" pitchFamily="34" charset="0"/>
                <a:ea typeface="Roboto" pitchFamily="34" charset="-122"/>
                <a:cs typeface="Roboto" pitchFamily="34" charset="-120"/>
              </a:rPr>
              <a:t> — an approximate </a:t>
            </a:r>
            <a:r>
              <a:rPr lang="en-US" sz="1200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33.7× increase</a:t>
            </a:r>
            <a:r>
              <a:rPr lang="en-US" sz="1200" dirty="0">
                <a:latin typeface="Roboto" pitchFamily="34" charset="0"/>
                <a:ea typeface="Roboto" pitchFamily="34" charset="-122"/>
                <a:cs typeface="Roboto" pitchFamily="34" charset="-120"/>
              </a:rPr>
              <a:t> over five fiscal years. The steepest acceleration occurred between FY2020 and FY2022, signaling a rapidly scaling customer relationship.</a:t>
            </a:r>
            <a:endParaRPr lang="en-US" sz="1200" dirty="0"/>
          </a:p>
        </p:txBody>
      </p:sp>
      <p:sp>
        <p:nvSpPr>
          <p:cNvPr id="68" name="Shape 7">
            <a:extLst>
              <a:ext uri="{FF2B5EF4-FFF2-40B4-BE49-F238E27FC236}">
                <a16:creationId xmlns:a16="http://schemas.microsoft.com/office/drawing/2014/main" id="{0D5A02C6-FD38-509F-3C3A-F02C1A7E9944}"/>
              </a:ext>
            </a:extLst>
          </p:cNvPr>
          <p:cNvSpPr/>
          <p:nvPr/>
        </p:nvSpPr>
        <p:spPr>
          <a:xfrm>
            <a:off x="6295074" y="3670776"/>
            <a:ext cx="5241496" cy="2846387"/>
          </a:xfrm>
          <a:prstGeom prst="roundRect">
            <a:avLst>
              <a:gd name="adj" fmla="val 2334"/>
            </a:avLst>
          </a:prstGeom>
          <a:solidFill>
            <a:srgbClr val="0D0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8">
            <a:extLst>
              <a:ext uri="{FF2B5EF4-FFF2-40B4-BE49-F238E27FC236}">
                <a16:creationId xmlns:a16="http://schemas.microsoft.com/office/drawing/2014/main" id="{601FEBFB-048E-8747-9A7C-9693C50E7CFC}"/>
              </a:ext>
            </a:extLst>
          </p:cNvPr>
          <p:cNvSpPr/>
          <p:nvPr/>
        </p:nvSpPr>
        <p:spPr>
          <a:xfrm>
            <a:off x="6484775" y="3828930"/>
            <a:ext cx="4862093" cy="2530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get_fiscal_year(date) AS fiscal_year,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SUM(ROUND(sold_quantity * g.gross_price, 2))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yearly_sales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fact_sales_monthly s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fact_gross_price g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 g.fiscal_year = get_fiscal_year(s.date)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g.product_code = s.product_code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customer_code = 90002002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get_fiscal_year(date)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fiscal_year;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2" name="Shape 1">
            <a:extLst>
              <a:ext uri="{FF2B5EF4-FFF2-40B4-BE49-F238E27FC236}">
                <a16:creationId xmlns:a16="http://schemas.microsoft.com/office/drawing/2014/main" id="{CE3AD5A6-2602-3FC1-39B9-EFBEBD4EB57B}"/>
              </a:ext>
            </a:extLst>
          </p:cNvPr>
          <p:cNvSpPr/>
          <p:nvPr/>
        </p:nvSpPr>
        <p:spPr>
          <a:xfrm>
            <a:off x="661475" y="1255613"/>
            <a:ext cx="1582202" cy="401737"/>
          </a:xfrm>
          <a:prstGeom prst="roundRect">
            <a:avLst>
              <a:gd name="adj" fmla="val 22118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4" name="Text 2">
            <a:extLst>
              <a:ext uri="{FF2B5EF4-FFF2-40B4-BE49-F238E27FC236}">
                <a16:creationId xmlns:a16="http://schemas.microsoft.com/office/drawing/2014/main" id="{E88C1F81-00AE-81A7-5870-5440E71ED0A7}"/>
              </a:ext>
            </a:extLst>
          </p:cNvPr>
          <p:cNvSpPr/>
          <p:nvPr/>
        </p:nvSpPr>
        <p:spPr>
          <a:xfrm>
            <a:off x="774879" y="1312267"/>
            <a:ext cx="1468798" cy="24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REQUEST #3</a:t>
            </a:r>
            <a:r>
              <a:rPr lang="en-US" sz="1150" dirty="0"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15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5C84FA-F16C-9363-9ED3-19FA721C94FD}"/>
              </a:ext>
            </a:extLst>
          </p:cNvPr>
          <p:cNvSpPr txBox="1"/>
          <p:nvPr/>
        </p:nvSpPr>
        <p:spPr>
          <a:xfrm>
            <a:off x="2584939" y="1302290"/>
            <a:ext cx="91515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lang="en-US" sz="1600" dirty="0"/>
              <a:t>As a product owner, I need an aggregate monthly gross sales report for Croma India customer so that I can track how much sales this particular customer is generating for AtliQ and manage our relationships accordingly, The report should have the following fields</a:t>
            </a:r>
          </a:p>
        </p:txBody>
      </p:sp>
    </p:spTree>
    <p:extLst>
      <p:ext uri="{BB962C8B-B14F-4D97-AF65-F5344CB8AC3E}">
        <p14:creationId xmlns:p14="http://schemas.microsoft.com/office/powerpoint/2010/main" val="3029650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Reusable SQL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get_monthly_gross_sales_for_customer</a:t>
            </a:r>
          </a:p>
          <a:p>
            <a:pPr>
              <a:spcAft>
                <a:spcPts val="1000"/>
              </a:spcAft>
              <a:defRPr sz="1900"/>
            </a:pPr>
            <a:r>
              <a:t>get_market_badge</a:t>
            </a:r>
          </a:p>
          <a:p>
            <a:pPr>
              <a:spcAft>
                <a:spcPts val="1000"/>
              </a:spcAft>
              <a:defRPr sz="1900"/>
            </a:pPr>
            <a:r>
              <a:t>Parameterized Top-N procedures</a:t>
            </a:r>
          </a:p>
          <a:p>
            <a:pPr>
              <a:spcAft>
                <a:spcPts val="1000"/>
              </a:spcAft>
              <a:defRPr sz="1900"/>
            </a:pPr>
            <a:r>
              <a:t>Fiscal-year and fiscal-quarter functions</a:t>
            </a:r>
          </a:p>
          <a:p>
            <a:pPr>
              <a:spcAft>
                <a:spcPts val="1000"/>
              </a:spcAft>
              <a:defRPr sz="1900"/>
            </a:pPr>
            <a:r>
              <a:t>Reusable logic reduces repetitive query modification and supports more efficient reporting.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922F4-1138-B5E3-072E-028140CB3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DF0FCBD-55E5-D5E1-08B6-72BE8E9506D0}"/>
              </a:ext>
            </a:extLst>
          </p:cNvPr>
          <p:cNvSpPr/>
          <p:nvPr/>
        </p:nvSpPr>
        <p:spPr>
          <a:xfrm>
            <a:off x="661475" y="77470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Request #4 </a:t>
            </a:r>
            <a:endParaRPr lang="en-US" sz="275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C83ED4E-033C-4710-9BD8-2780A1619B97}"/>
              </a:ext>
            </a:extLst>
          </p:cNvPr>
          <p:cNvSpPr/>
          <p:nvPr/>
        </p:nvSpPr>
        <p:spPr>
          <a:xfrm>
            <a:off x="6958019" y="3268083"/>
            <a:ext cx="694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Output Preview</a:t>
            </a:r>
            <a:endParaRPr lang="en-US" sz="13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347247-1DB9-E578-C8D3-81B76D78A5AF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A33C68-2C4E-47BF-C04F-5050C7455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987" y="3819964"/>
            <a:ext cx="3418609" cy="2263336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CCED8E13-F691-8E3B-7724-D49735EDC6F5}"/>
              </a:ext>
            </a:extLst>
          </p:cNvPr>
          <p:cNvSpPr/>
          <p:nvPr/>
        </p:nvSpPr>
        <p:spPr>
          <a:xfrm>
            <a:off x="640080" y="1541672"/>
            <a:ext cx="1075534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spcAft>
                <a:spcPts val="1000"/>
              </a:spcAft>
              <a:defRPr sz="1900"/>
            </a:pPr>
            <a:r>
              <a:rPr lang="en-US" sz="1600" dirty="0"/>
              <a:t>As a product owner, I need an aggregate monthly gross sales report for Croma India customer so that I can track how much sales this particular customer is generating for AtliQ and manage our relationships accordingly, The report should have the following fields</a:t>
            </a:r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A6FAB70F-5BEE-DB35-1093-8B11882832BA}"/>
              </a:ext>
            </a:extLst>
          </p:cNvPr>
          <p:cNvSpPr/>
          <p:nvPr/>
        </p:nvSpPr>
        <p:spPr>
          <a:xfrm>
            <a:off x="473152" y="2582085"/>
            <a:ext cx="5339820" cy="685998"/>
          </a:xfrm>
          <a:prstGeom prst="roundRect">
            <a:avLst>
              <a:gd name="adj" fmla="val 1157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4D4A9EB6-2D78-E42B-941F-985010909CFA}"/>
              </a:ext>
            </a:extLst>
          </p:cNvPr>
          <p:cNvSpPr/>
          <p:nvPr/>
        </p:nvSpPr>
        <p:spPr>
          <a:xfrm>
            <a:off x="756348" y="277744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Month</a:t>
            </a:r>
            <a:endParaRPr lang="en-US" sz="1850" dirty="0">
              <a:solidFill>
                <a:schemeClr val="bg1"/>
              </a:solidFill>
            </a:endParaRPr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60043720-FEAB-55E9-4ED7-4F595E728685}"/>
              </a:ext>
            </a:extLst>
          </p:cNvPr>
          <p:cNvSpPr/>
          <p:nvPr/>
        </p:nvSpPr>
        <p:spPr>
          <a:xfrm>
            <a:off x="473151" y="3710151"/>
            <a:ext cx="6148713" cy="685998"/>
          </a:xfrm>
          <a:prstGeom prst="roundRect">
            <a:avLst>
              <a:gd name="adj" fmla="val 1157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2295A3C7-28B5-387A-AC38-AE29E1814B4E}"/>
              </a:ext>
            </a:extLst>
          </p:cNvPr>
          <p:cNvSpPr/>
          <p:nvPr/>
        </p:nvSpPr>
        <p:spPr>
          <a:xfrm>
            <a:off x="640080" y="395026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Total gross sales in that month from a given  Customer</a:t>
            </a:r>
            <a:endParaRPr lang="en-US" sz="1850" dirty="0">
              <a:solidFill>
                <a:schemeClr val="bg1"/>
              </a:solidFill>
              <a:latin typeface="Roboto Medium" pitchFamily="34" charset="0"/>
              <a:ea typeface="Roboto Medium" pitchFamily="34" charset="-122"/>
              <a:cs typeface="Roboto Medium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1187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CFD81-DE1F-E57E-5FA7-D2549AC54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4F028E5-2CEB-5D88-E710-5B92AE5AFD5B}"/>
              </a:ext>
            </a:extLst>
          </p:cNvPr>
          <p:cNvSpPr/>
          <p:nvPr/>
        </p:nvSpPr>
        <p:spPr>
          <a:xfrm>
            <a:off x="661475" y="77470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Request #5 </a:t>
            </a:r>
            <a:endParaRPr lang="en-US" sz="275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65FAA646-6793-2710-2B0F-62B42DA8A8FC}"/>
              </a:ext>
            </a:extLst>
          </p:cNvPr>
          <p:cNvSpPr/>
          <p:nvPr/>
        </p:nvSpPr>
        <p:spPr>
          <a:xfrm>
            <a:off x="5705454" y="2584454"/>
            <a:ext cx="694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Output Preview</a:t>
            </a:r>
            <a:endParaRPr lang="en-US" sz="13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C47343-4A9B-963C-119A-F5AB52D89EEB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D5C6741-6C78-A24C-DC32-784CCF01F01A}"/>
              </a:ext>
            </a:extLst>
          </p:cNvPr>
          <p:cNvSpPr/>
          <p:nvPr/>
        </p:nvSpPr>
        <p:spPr>
          <a:xfrm>
            <a:off x="640080" y="1541672"/>
            <a:ext cx="1075534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spcAft>
                <a:spcPts val="1000"/>
              </a:spcAft>
              <a:defRPr sz="1900"/>
            </a:pPr>
            <a:r>
              <a:rPr lang="en-US" sz="1600" dirty="0"/>
              <a:t>Create a stored proc that can  determine the market badge based on the following </a:t>
            </a:r>
            <a:r>
              <a:rPr lang="en-US" sz="1600" dirty="0" err="1"/>
              <a:t>logic,If</a:t>
            </a:r>
            <a:r>
              <a:rPr lang="en-US" sz="1600" dirty="0"/>
              <a:t> total sold quantity &gt; 5 million that market is considered Gold else it is Silver</a:t>
            </a:r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EAA81C3D-E066-AB43-9D62-29C347924796}"/>
              </a:ext>
            </a:extLst>
          </p:cNvPr>
          <p:cNvSpPr/>
          <p:nvPr/>
        </p:nvSpPr>
        <p:spPr>
          <a:xfrm>
            <a:off x="473152" y="2582085"/>
            <a:ext cx="2440870" cy="685998"/>
          </a:xfrm>
          <a:prstGeom prst="roundRect">
            <a:avLst>
              <a:gd name="adj" fmla="val 1157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40C59572-2F4A-DA6F-E32C-A63B1834B2A0}"/>
              </a:ext>
            </a:extLst>
          </p:cNvPr>
          <p:cNvSpPr/>
          <p:nvPr/>
        </p:nvSpPr>
        <p:spPr>
          <a:xfrm>
            <a:off x="756348" y="277744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My input will be,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850" dirty="0">
              <a:solidFill>
                <a:schemeClr val="bg1"/>
              </a:solidFill>
            </a:endParaRPr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F58C5F93-0772-D402-7D4E-60E606FBA50C}"/>
              </a:ext>
            </a:extLst>
          </p:cNvPr>
          <p:cNvSpPr/>
          <p:nvPr/>
        </p:nvSpPr>
        <p:spPr>
          <a:xfrm>
            <a:off x="473151" y="3710151"/>
            <a:ext cx="3418609" cy="685998"/>
          </a:xfrm>
          <a:prstGeom prst="roundRect">
            <a:avLst>
              <a:gd name="adj" fmla="val 1157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9F5D3053-17E7-9265-837D-62644C5F7978}"/>
              </a:ext>
            </a:extLst>
          </p:cNvPr>
          <p:cNvSpPr/>
          <p:nvPr/>
        </p:nvSpPr>
        <p:spPr>
          <a:xfrm>
            <a:off x="640080" y="3905513"/>
            <a:ext cx="31682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1.Market :- India</a:t>
            </a:r>
            <a:endParaRPr lang="en-US" sz="1850" dirty="0">
              <a:solidFill>
                <a:schemeClr val="bg1"/>
              </a:solidFill>
              <a:latin typeface="Roboto Medium" pitchFamily="34" charset="0"/>
              <a:ea typeface="Roboto Medium" pitchFamily="34" charset="-122"/>
              <a:cs typeface="Roboto Medium" pitchFamily="34" charset="-120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F6D0B208-62A1-1EC6-B4AF-DA4AC5C6E85A}"/>
              </a:ext>
            </a:extLst>
          </p:cNvPr>
          <p:cNvSpPr/>
          <p:nvPr/>
        </p:nvSpPr>
        <p:spPr>
          <a:xfrm>
            <a:off x="473150" y="4715880"/>
            <a:ext cx="3418609" cy="685998"/>
          </a:xfrm>
          <a:prstGeom prst="roundRect">
            <a:avLst>
              <a:gd name="adj" fmla="val 1157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C47F7641-12D3-CBB7-9C62-D9CE6F396215}"/>
              </a:ext>
            </a:extLst>
          </p:cNvPr>
          <p:cNvSpPr/>
          <p:nvPr/>
        </p:nvSpPr>
        <p:spPr>
          <a:xfrm>
            <a:off x="661475" y="4911241"/>
            <a:ext cx="31682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2.fiscal year:- 2021</a:t>
            </a:r>
            <a:endParaRPr lang="en-US" sz="1850" dirty="0">
              <a:solidFill>
                <a:schemeClr val="bg1"/>
              </a:solidFill>
              <a:latin typeface="Roboto Medium" pitchFamily="34" charset="0"/>
              <a:ea typeface="Roboto Medium" pitchFamily="34" charset="-122"/>
              <a:cs typeface="Roboto Medium" pitchFamily="34" charset="-12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2E7444-5C3F-4035-79DD-6A3E51C5F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454" y="3161928"/>
            <a:ext cx="2880745" cy="178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096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Finance Analytics — Advanced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rPr dirty="0"/>
              <a:t>Top markets, products and customers by net sales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Top 10 markets by percentage of net sales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Regional customer contribution to net sales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Top-performing products within each division</a:t>
            </a:r>
          </a:p>
          <a:p>
            <a:pPr>
              <a:spcAft>
                <a:spcPts val="1000"/>
              </a:spcAft>
              <a:defRPr sz="1900"/>
            </a:pPr>
            <a:r>
              <a:rPr dirty="0"/>
              <a:t>Top 2 markets within every region by gross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8EB510-F6F5-631E-CF08-A660139A7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719" y="3429000"/>
            <a:ext cx="3187321" cy="18983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37B4FA-B549-ADB2-A999-C7737A90F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520" y="3361398"/>
            <a:ext cx="3450700" cy="15621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5C8AD0-EC76-AB74-CEEF-ADD4EA6FB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538" y="5344968"/>
            <a:ext cx="3450700" cy="1386365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97F929FB-2A7F-7763-D9C5-6EC2F08DFB35}"/>
              </a:ext>
            </a:extLst>
          </p:cNvPr>
          <p:cNvSpPr/>
          <p:nvPr/>
        </p:nvSpPr>
        <p:spPr>
          <a:xfrm>
            <a:off x="661475" y="43123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Request #6 </a:t>
            </a:r>
            <a:endParaRPr lang="en-US" sz="27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31AE64F9-215C-B582-AEFC-0488B82D381B}"/>
              </a:ext>
            </a:extLst>
          </p:cNvPr>
          <p:cNvSpPr/>
          <p:nvPr/>
        </p:nvSpPr>
        <p:spPr>
          <a:xfrm>
            <a:off x="661475" y="1098481"/>
            <a:ext cx="10755341" cy="1253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spcAft>
                <a:spcPts val="1000"/>
              </a:spcAft>
              <a:defRPr sz="1900"/>
            </a:pPr>
            <a:r>
              <a:rPr lang="en-US" sz="1600" dirty="0"/>
              <a:t>As a Product Owner, I want a report for top markets, products, customers by net sales for a given financial year so that I can have a holistic view of our financial performance and can take appropriate actions to address any potential issues.</a:t>
            </a:r>
          </a:p>
          <a:p>
            <a:pPr>
              <a:spcAft>
                <a:spcPts val="1000"/>
              </a:spcAft>
              <a:defRPr sz="1900"/>
            </a:pPr>
            <a:r>
              <a:rPr lang="en-US" sz="1600" dirty="0"/>
              <a:t> </a:t>
            </a:r>
          </a:p>
          <a:p>
            <a:pPr>
              <a:spcAft>
                <a:spcPts val="1000"/>
              </a:spcAft>
              <a:defRPr sz="1900"/>
            </a:pPr>
            <a:r>
              <a:rPr lang="en-US" sz="1600" dirty="0"/>
              <a:t> we will probably write stored proc for this as  we will need this report going forward as well.</a:t>
            </a: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66BC8C8E-0B59-CD77-5786-2D3A47B130BB}"/>
              </a:ext>
            </a:extLst>
          </p:cNvPr>
          <p:cNvSpPr/>
          <p:nvPr/>
        </p:nvSpPr>
        <p:spPr>
          <a:xfrm>
            <a:off x="7414377" y="2596956"/>
            <a:ext cx="3615557" cy="685998"/>
          </a:xfrm>
          <a:prstGeom prst="roundRect">
            <a:avLst>
              <a:gd name="adj" fmla="val 1157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7D6111A2-CCFA-95E3-C455-02A2475B2484}"/>
              </a:ext>
            </a:extLst>
          </p:cNvPr>
          <p:cNvSpPr/>
          <p:nvPr/>
        </p:nvSpPr>
        <p:spPr>
          <a:xfrm>
            <a:off x="7759077" y="274059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2.Report for top products</a:t>
            </a:r>
            <a:endParaRPr lang="en-US" sz="1850" dirty="0">
              <a:solidFill>
                <a:schemeClr val="bg1"/>
              </a:solidFill>
            </a:endParaRP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401FA001-5AD6-FF6A-A0A9-4CA746AC8CC6}"/>
              </a:ext>
            </a:extLst>
          </p:cNvPr>
          <p:cNvSpPr/>
          <p:nvPr/>
        </p:nvSpPr>
        <p:spPr>
          <a:xfrm>
            <a:off x="558915" y="5849954"/>
            <a:ext cx="5339820" cy="685998"/>
          </a:xfrm>
          <a:prstGeom prst="roundRect">
            <a:avLst>
              <a:gd name="adj" fmla="val 1157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0AA749B9-DD65-C07F-81AB-66FAD7788AB3}"/>
              </a:ext>
            </a:extLst>
          </p:cNvPr>
          <p:cNvSpPr/>
          <p:nvPr/>
        </p:nvSpPr>
        <p:spPr>
          <a:xfrm>
            <a:off x="754272" y="6059260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3.Report for top customers.</a:t>
            </a:r>
            <a:endParaRPr lang="en-US" sz="1850" dirty="0">
              <a:solidFill>
                <a:schemeClr val="bg1"/>
              </a:solidFill>
            </a:endParaRPr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76249FEE-FE18-3184-696F-E3CB37204066}"/>
              </a:ext>
            </a:extLst>
          </p:cNvPr>
          <p:cNvSpPr/>
          <p:nvPr/>
        </p:nvSpPr>
        <p:spPr>
          <a:xfrm>
            <a:off x="597203" y="2514523"/>
            <a:ext cx="5339820" cy="685998"/>
          </a:xfrm>
          <a:prstGeom prst="roundRect">
            <a:avLst>
              <a:gd name="adj" fmla="val 11573"/>
            </a:avLst>
          </a:prstGeom>
          <a:solidFill>
            <a:srgbClr val="182567"/>
          </a:solidFill>
          <a:ln w="6350">
            <a:solidFill>
              <a:srgbClr val="313E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4EDF615-3197-4241-053C-1F9DAAA4832C}"/>
              </a:ext>
            </a:extLst>
          </p:cNvPr>
          <p:cNvSpPr/>
          <p:nvPr/>
        </p:nvSpPr>
        <p:spPr>
          <a:xfrm>
            <a:off x="792560" y="272382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chemeClr val="bg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1.Report for top markets.</a:t>
            </a:r>
            <a:endParaRPr lang="en-US" sz="18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896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D76FFB-C26A-4DD2-AA03-BF032CE42B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2605500"/>
              </p:ext>
            </p:extLst>
          </p:nvPr>
        </p:nvGraphicFramePr>
        <p:xfrm>
          <a:off x="4869537" y="2055757"/>
          <a:ext cx="6850380" cy="4244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0">
            <a:extLst>
              <a:ext uri="{FF2B5EF4-FFF2-40B4-BE49-F238E27FC236}">
                <a16:creationId xmlns:a16="http://schemas.microsoft.com/office/drawing/2014/main" id="{6F02ADAE-7BE2-CA39-391A-2280356428B1}"/>
              </a:ext>
            </a:extLst>
          </p:cNvPr>
          <p:cNvSpPr/>
          <p:nvPr/>
        </p:nvSpPr>
        <p:spPr>
          <a:xfrm>
            <a:off x="661475" y="43123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Request #7 </a:t>
            </a:r>
            <a:endParaRPr lang="en-US" sz="27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A0F800F2-EEA5-62C8-6FB5-F6E517BDEFEB}"/>
              </a:ext>
            </a:extLst>
          </p:cNvPr>
          <p:cNvSpPr/>
          <p:nvPr/>
        </p:nvSpPr>
        <p:spPr>
          <a:xfrm>
            <a:off x="574214" y="960447"/>
            <a:ext cx="1075534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spcAft>
                <a:spcPts val="1000"/>
              </a:spcAft>
              <a:defRPr sz="1900"/>
            </a:pPr>
            <a:r>
              <a:rPr lang="en-US" sz="1600" dirty="0"/>
              <a:t>AS a Product owner, I want to see a bar chart report for FY =2021 for top 10 markets by % net sales. It should look something like this.( import and add bar chart)</a:t>
            </a: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E79D12CA-AEF0-7CA2-1FCB-78B05240E681}"/>
              </a:ext>
            </a:extLst>
          </p:cNvPr>
          <p:cNvSpPr/>
          <p:nvPr/>
        </p:nvSpPr>
        <p:spPr>
          <a:xfrm>
            <a:off x="661475" y="1715551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SQL Query</a:t>
            </a:r>
            <a:endParaRPr lang="en-US" sz="135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24EC245C-18CB-C743-B41E-B83D5292FE8C}"/>
              </a:ext>
            </a:extLst>
          </p:cNvPr>
          <p:cNvSpPr/>
          <p:nvPr/>
        </p:nvSpPr>
        <p:spPr>
          <a:xfrm>
            <a:off x="574214" y="2055757"/>
            <a:ext cx="3579227" cy="4139208"/>
          </a:xfrm>
          <a:prstGeom prst="roundRect">
            <a:avLst>
              <a:gd name="adj" fmla="val 1664"/>
            </a:avLst>
          </a:prstGeom>
          <a:solidFill>
            <a:srgbClr val="0D0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1E429DA8-04AA-73ED-B2A4-5E758C445170}"/>
              </a:ext>
            </a:extLst>
          </p:cNvPr>
          <p:cNvSpPr/>
          <p:nvPr/>
        </p:nvSpPr>
        <p:spPr>
          <a:xfrm>
            <a:off x="744271" y="2197442"/>
            <a:ext cx="3239113" cy="3855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cte1 AS (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customer,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ROUND(SUM(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net_sales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1000000, 2) AS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net_sales_mln</a:t>
            </a: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net_sales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dim_customer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s.customer_code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c.customer_code</a:t>
            </a: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s.fiscal_year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2021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 BY customer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*,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net_sales_mln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100 / SUM(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net_sales_mln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OVER () AS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pct_net_sales</a:t>
            </a: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cte1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net_sales_mln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DESC;</a:t>
            </a: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9217F65F-9C5C-ADE9-1C33-D47BC93B7401}"/>
              </a:ext>
            </a:extLst>
          </p:cNvPr>
          <p:cNvSpPr/>
          <p:nvPr/>
        </p:nvSpPr>
        <p:spPr>
          <a:xfrm>
            <a:off x="5248449" y="1727968"/>
            <a:ext cx="694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Output Preview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39788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936C0-5BDF-2293-EE26-CF96CEA5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1796A8D0-E72C-90FE-BF43-F4A6CAF3B26C}"/>
              </a:ext>
            </a:extLst>
          </p:cNvPr>
          <p:cNvSpPr/>
          <p:nvPr/>
        </p:nvSpPr>
        <p:spPr>
          <a:xfrm>
            <a:off x="661475" y="43123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Request #8 </a:t>
            </a:r>
            <a:endParaRPr lang="en-US" sz="27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F112113-7A78-BFEB-97A1-2A6C93AB81CD}"/>
              </a:ext>
            </a:extLst>
          </p:cNvPr>
          <p:cNvSpPr/>
          <p:nvPr/>
        </p:nvSpPr>
        <p:spPr>
          <a:xfrm>
            <a:off x="661475" y="1021029"/>
            <a:ext cx="10755341" cy="1251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>
              <a:spcAft>
                <a:spcPts val="1000"/>
              </a:spcAft>
              <a:defRPr sz="1900"/>
            </a:pPr>
            <a:r>
              <a:rPr lang="en-US" sz="1600" dirty="0"/>
              <a:t>As a product owner, I want to see region wise(APAC, EU, LTAM, etc.) % net sales breakdown by customers in a respective region so that I can perform my regional analysis on financial performance of the company </a:t>
            </a:r>
          </a:p>
          <a:p>
            <a:pPr>
              <a:spcAft>
                <a:spcPts val="1000"/>
              </a:spcAft>
              <a:defRPr sz="1900"/>
            </a:pPr>
            <a:endParaRPr lang="en-US" sz="1600" dirty="0"/>
          </a:p>
          <a:p>
            <a:pPr>
              <a:spcAft>
                <a:spcPts val="1000"/>
              </a:spcAft>
              <a:defRPr sz="1900"/>
            </a:pPr>
            <a:r>
              <a:rPr lang="en-US" sz="1600" dirty="0"/>
              <a:t>the end result should be pie charts in the following format for the FY= 2021. builder reusable asset that we can use the contact the analysis for the any financial year.</a:t>
            </a: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DFB10032-8592-D930-11C2-10A6A100D6D3}"/>
              </a:ext>
            </a:extLst>
          </p:cNvPr>
          <p:cNvSpPr/>
          <p:nvPr/>
        </p:nvSpPr>
        <p:spPr>
          <a:xfrm>
            <a:off x="574214" y="2657556"/>
            <a:ext cx="694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Output Preview</a:t>
            </a:r>
            <a:endParaRPr lang="en-US" sz="135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DC9B5D3-DFE0-6E55-06B2-2648262E75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7308403"/>
              </p:ext>
            </p:extLst>
          </p:nvPr>
        </p:nvGraphicFramePr>
        <p:xfrm>
          <a:off x="530802" y="2983703"/>
          <a:ext cx="4591050" cy="2600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5B74B56-A406-481F-14AD-26C3ED8E0D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0603044"/>
              </p:ext>
            </p:extLst>
          </p:nvPr>
        </p:nvGraphicFramePr>
        <p:xfrm>
          <a:off x="6450157" y="2983703"/>
          <a:ext cx="4591050" cy="2600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50394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980E4AE-92EE-59AF-C93A-91371E1CD5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1857952"/>
              </p:ext>
            </p:extLst>
          </p:nvPr>
        </p:nvGraphicFramePr>
        <p:xfrm>
          <a:off x="423430" y="1287174"/>
          <a:ext cx="4591050" cy="2600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91DEA76-1689-656D-C886-D81CCA47F8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6151919"/>
              </p:ext>
            </p:extLst>
          </p:nvPr>
        </p:nvGraphicFramePr>
        <p:xfrm>
          <a:off x="5889048" y="1256867"/>
          <a:ext cx="4591050" cy="2609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79076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E1F02-DE3A-AEE9-4500-A08DF09E2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AF3EF8E1-5D1A-2D13-CB3E-DFC66E4F33DD}"/>
              </a:ext>
            </a:extLst>
          </p:cNvPr>
          <p:cNvSpPr/>
          <p:nvPr/>
        </p:nvSpPr>
        <p:spPr>
          <a:xfrm>
            <a:off x="661475" y="43123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Request #9 </a:t>
            </a:r>
            <a:endParaRPr lang="en-US" sz="27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F8A72B44-7D38-5981-5500-E5524C6AB451}"/>
              </a:ext>
            </a:extLst>
          </p:cNvPr>
          <p:cNvSpPr/>
          <p:nvPr/>
        </p:nvSpPr>
        <p:spPr>
          <a:xfrm>
            <a:off x="661475" y="1021029"/>
            <a:ext cx="10755341" cy="601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spcAft>
                <a:spcPts val="1000"/>
              </a:spcAft>
              <a:defRPr sz="1900"/>
            </a:pPr>
            <a:r>
              <a:rPr lang="en-US" sz="1600" dirty="0"/>
              <a:t>Write a stored proc for getting TOP n products in each division by their quantity sold in a given financial year. For example, below would be the result for FY = 2021.</a:t>
            </a: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7A241D6F-1B1A-3730-D9AA-EABF41BCAF77}"/>
              </a:ext>
            </a:extLst>
          </p:cNvPr>
          <p:cNvSpPr/>
          <p:nvPr/>
        </p:nvSpPr>
        <p:spPr>
          <a:xfrm>
            <a:off x="6586318" y="2224937"/>
            <a:ext cx="694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Output Preview</a:t>
            </a:r>
            <a:endParaRPr lang="en-US" sz="13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4DADB7-BD6B-EC50-A44B-E60AF5511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318" y="2657556"/>
            <a:ext cx="4830498" cy="3673261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54F14AD3-F369-C78C-C123-2CB24AB03D21}"/>
              </a:ext>
            </a:extLst>
          </p:cNvPr>
          <p:cNvSpPr/>
          <p:nvPr/>
        </p:nvSpPr>
        <p:spPr>
          <a:xfrm>
            <a:off x="574214" y="1769102"/>
            <a:ext cx="4558225" cy="4789014"/>
          </a:xfrm>
          <a:prstGeom prst="roundRect">
            <a:avLst>
              <a:gd name="adj" fmla="val 1664"/>
            </a:avLst>
          </a:prstGeom>
          <a:solidFill>
            <a:srgbClr val="0D0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1F894D2F-ED72-CDEF-D312-A0BEF5D0CEDF}"/>
              </a:ext>
            </a:extLst>
          </p:cNvPr>
          <p:cNvSpPr/>
          <p:nvPr/>
        </p:nvSpPr>
        <p:spPr>
          <a:xfrm>
            <a:off x="744271" y="1956620"/>
            <a:ext cx="4250516" cy="447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`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get_top_n_products_per_division_by_qty_sold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`(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in_fiscal_year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INT,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in_top_n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cte1 AS (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SELECT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p.division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p.product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SUM(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s.sold_quantity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total_qty</a:t>
            </a: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fact_sales_monthly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JOIN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dim_product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ON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p.product_code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s.product_code</a:t>
            </a: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WHERE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s.fiscal_year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in_fiscal_year</a:t>
            </a: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GROUP BY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p.division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p.product</a:t>
            </a: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cte2 AS (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SELECT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*,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DENSE_RANK() OVER (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PARTITION BY division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ORDER BY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total_qty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DESC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) AS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drnk</a:t>
            </a: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cte1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*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cte2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drnk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in_top_n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761869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A8E78-3D9C-4DAF-FFC5-B83670935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8F372DCA-9954-154E-57A7-341C117F3FCA}"/>
              </a:ext>
            </a:extLst>
          </p:cNvPr>
          <p:cNvSpPr/>
          <p:nvPr/>
        </p:nvSpPr>
        <p:spPr>
          <a:xfrm>
            <a:off x="661475" y="43123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Request #10 </a:t>
            </a:r>
            <a:endParaRPr lang="en-US" sz="27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FC76615B-5CB9-6FD7-7FBB-BA77E67BBBDF}"/>
              </a:ext>
            </a:extLst>
          </p:cNvPr>
          <p:cNvSpPr/>
          <p:nvPr/>
        </p:nvSpPr>
        <p:spPr>
          <a:xfrm>
            <a:off x="661475" y="1021029"/>
            <a:ext cx="10755341" cy="601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spcAft>
                <a:spcPts val="1000"/>
              </a:spcAft>
              <a:defRPr sz="1900"/>
            </a:pPr>
            <a:r>
              <a:rPr lang="en-US" sz="1600" dirty="0"/>
              <a:t>Retrieve the top 2 markets in every region by their gross sales amount in FY=2021.</a:t>
            </a: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A5FEFC92-EA24-8782-D0C8-DB7B1E9BA63F}"/>
              </a:ext>
            </a:extLst>
          </p:cNvPr>
          <p:cNvSpPr/>
          <p:nvPr/>
        </p:nvSpPr>
        <p:spPr>
          <a:xfrm>
            <a:off x="6419170" y="2588731"/>
            <a:ext cx="694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Output Preview</a:t>
            </a:r>
            <a:endParaRPr lang="en-US" sz="13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989FD14-9754-AEFD-3ECA-D9349257D67B}"/>
              </a:ext>
            </a:extLst>
          </p:cNvPr>
          <p:cNvSpPr/>
          <p:nvPr/>
        </p:nvSpPr>
        <p:spPr>
          <a:xfrm>
            <a:off x="574214" y="1769102"/>
            <a:ext cx="4558225" cy="4789014"/>
          </a:xfrm>
          <a:prstGeom prst="roundRect">
            <a:avLst>
              <a:gd name="adj" fmla="val 1664"/>
            </a:avLst>
          </a:prstGeom>
          <a:solidFill>
            <a:srgbClr val="0D0D2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6EAE539-CD7C-D4BB-B59A-26F83FA8B329}"/>
              </a:ext>
            </a:extLst>
          </p:cNvPr>
          <p:cNvSpPr/>
          <p:nvPr/>
        </p:nvSpPr>
        <p:spPr>
          <a:xfrm>
            <a:off x="744271" y="1956620"/>
            <a:ext cx="4250516" cy="447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cte1 AS (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c.market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c.region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ROUND(SUM(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s.gross_price_total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1000000, 2) AS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gross_sales_mln</a:t>
            </a: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gross_sales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dim_customer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c.customer_code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s.customer_code</a:t>
            </a: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s.fiscal_year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2021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 BY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c.market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c.region</a:t>
            </a: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cte2 AS (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*,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DENSE_RANK() OVER (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PARTITION BY region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ORDER BY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gross_sales_mln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DESC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 AS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drnk</a:t>
            </a: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cte1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>
              <a:solidFill>
                <a:schemeClr val="bg1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cte2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11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drnk</a:t>
            </a: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2;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4E81FF-DAE3-BB81-2CF6-57B7B3E75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968" y="2960942"/>
            <a:ext cx="5417587" cy="28288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903180-F475-B53C-A0FA-3E26C9F2A492}"/>
              </a:ext>
            </a:extLst>
          </p:cNvPr>
          <p:cNvSpPr txBox="1"/>
          <p:nvPr/>
        </p:nvSpPr>
        <p:spPr>
          <a:xfrm>
            <a:off x="737755" y="6577517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</p:spTree>
    <p:extLst>
      <p:ext uri="{BB962C8B-B14F-4D97-AF65-F5344CB8AC3E}">
        <p14:creationId xmlns:p14="http://schemas.microsoft.com/office/powerpoint/2010/main" val="324238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3882B7B-AFA3-39EF-FE1C-9DF3043A3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78874A7F-0F47-15FB-9EA9-DD77A81171D9}"/>
              </a:ext>
            </a:extLst>
          </p:cNvPr>
          <p:cNvSpPr/>
          <p:nvPr/>
        </p:nvSpPr>
        <p:spPr>
          <a:xfrm>
            <a:off x="5233360" y="554335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Supply Chain Analytics</a:t>
            </a:r>
            <a:endParaRPr lang="en-US" sz="3650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636CD68-7096-A4FC-6719-DF0FA2C961E1}"/>
              </a:ext>
            </a:extLst>
          </p:cNvPr>
          <p:cNvSpPr/>
          <p:nvPr/>
        </p:nvSpPr>
        <p:spPr>
          <a:xfrm>
            <a:off x="5233360" y="1410494"/>
            <a:ext cx="1668619" cy="282674"/>
          </a:xfrm>
          <a:prstGeom prst="roundRect">
            <a:avLst>
              <a:gd name="adj" fmla="val 22117"/>
            </a:avLst>
          </a:prstGeom>
          <a:solidFill>
            <a:srgbClr val="0F16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2ECCF32-32C6-5101-FF29-4349455694FE}"/>
              </a:ext>
            </a:extLst>
          </p:cNvPr>
          <p:cNvSpPr/>
          <p:nvPr/>
        </p:nvSpPr>
        <p:spPr>
          <a:xfrm>
            <a:off x="5344979" y="1466255"/>
            <a:ext cx="2054967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REQUESTS #11 &amp; #12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C5EAC500-C5D0-8495-086A-A3F5F5A45E22}"/>
              </a:ext>
            </a:extLst>
          </p:cNvPr>
          <p:cNvSpPr/>
          <p:nvPr/>
        </p:nvSpPr>
        <p:spPr>
          <a:xfrm>
            <a:off x="6994945" y="1410494"/>
            <a:ext cx="1750076" cy="282674"/>
          </a:xfrm>
          <a:prstGeom prst="roundRect">
            <a:avLst>
              <a:gd name="adj" fmla="val 22117"/>
            </a:avLst>
          </a:prstGeom>
          <a:noFill/>
          <a:ln w="6350">
            <a:solidFill>
              <a:srgbClr val="5A6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44D39AB9-7EB2-7FEC-2B3A-4CA83A672B4C}"/>
              </a:ext>
            </a:extLst>
          </p:cNvPr>
          <p:cNvSpPr/>
          <p:nvPr/>
        </p:nvSpPr>
        <p:spPr>
          <a:xfrm>
            <a:off x="7106564" y="1466255"/>
            <a:ext cx="2136424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latin typeface="Roboto" pitchFamily="34" charset="0"/>
                <a:ea typeface="Roboto" pitchFamily="34" charset="-122"/>
                <a:cs typeface="Roboto" pitchFamily="34" charset="-120"/>
              </a:rPr>
              <a:t>FORECAST ACCURACY</a:t>
            </a:r>
            <a:endParaRPr lang="en-US" sz="11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1869D937-F57F-B8C5-3D3B-B50ED598A891}"/>
              </a:ext>
            </a:extLst>
          </p:cNvPr>
          <p:cNvSpPr/>
          <p:nvPr/>
        </p:nvSpPr>
        <p:spPr>
          <a:xfrm>
            <a:off x="5233360" y="1899146"/>
            <a:ext cx="629686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latin typeface="Roboto" pitchFamily="34" charset="0"/>
                <a:ea typeface="Roboto" pitchFamily="34" charset="-122"/>
                <a:cs typeface="Roboto" pitchFamily="34" charset="-120"/>
              </a:rPr>
              <a:t>Two supply chain requests evaluate forecast accuracy by comparing </a:t>
            </a:r>
            <a:r>
              <a:rPr lang="en-US" sz="1450" b="1" dirty="0"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forecasted vs. actual demand</a:t>
            </a:r>
            <a:r>
              <a:rPr lang="en-US" sz="1450" dirty="0">
                <a:latin typeface="Roboto" pitchFamily="34" charset="0"/>
                <a:ea typeface="Roboto" pitchFamily="34" charset="-122"/>
                <a:cs typeface="Roboto" pitchFamily="34" charset="-120"/>
              </a:rPr>
              <a:t> at the product and market level, identifying gaps to improve inventory planning and reduce stockouts or overstock situations.</a:t>
            </a:r>
            <a:endParaRPr lang="en-US" sz="14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F714A9-25F9-42F6-23DE-5BDE4B8EE21D}"/>
              </a:ext>
            </a:extLst>
          </p:cNvPr>
          <p:cNvSpPr txBox="1"/>
          <p:nvPr/>
        </p:nvSpPr>
        <p:spPr>
          <a:xfrm>
            <a:off x="5043948" y="6446520"/>
            <a:ext cx="65689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</p:spTree>
    <p:extLst>
      <p:ext uri="{BB962C8B-B14F-4D97-AF65-F5344CB8AC3E}">
        <p14:creationId xmlns:p14="http://schemas.microsoft.com/office/powerpoint/2010/main" val="2683191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0F56EB-6795-206C-5E2A-24203D3B0D0B}"/>
              </a:ext>
            </a:extLst>
          </p:cNvPr>
          <p:cNvSpPr txBox="1"/>
          <p:nvPr/>
        </p:nvSpPr>
        <p:spPr>
          <a:xfrm>
            <a:off x="301335" y="1072622"/>
            <a:ext cx="1105592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As a product owner, I need an aggregate forecast accuracy report for all the customers for a given fiscal year so that </a:t>
            </a:r>
            <a:r>
              <a:rPr lang="en-IN" sz="1600" dirty="0" err="1"/>
              <a:t>i</a:t>
            </a:r>
            <a:r>
              <a:rPr lang="en-IN" sz="1600" dirty="0"/>
              <a:t> can track the accuracy of the forecast we make for these customers.</a:t>
            </a:r>
          </a:p>
          <a:p>
            <a:endParaRPr lang="en-IN" sz="1600" dirty="0"/>
          </a:p>
          <a:p>
            <a:r>
              <a:rPr lang="en-IN" sz="1600" dirty="0"/>
              <a:t>The reports should have the following fields.</a:t>
            </a:r>
          </a:p>
          <a:p>
            <a:endParaRPr lang="en-IN" sz="1600" dirty="0"/>
          </a:p>
          <a:p>
            <a:r>
              <a:rPr lang="en-IN" sz="1600" dirty="0"/>
              <a:t>1.Customer Code, Name, Market</a:t>
            </a:r>
          </a:p>
          <a:p>
            <a:r>
              <a:rPr lang="en-IN" sz="1600" dirty="0"/>
              <a:t>2.Total Sold Quantity</a:t>
            </a:r>
          </a:p>
          <a:p>
            <a:r>
              <a:rPr lang="en-IN" sz="1600" dirty="0"/>
              <a:t>3.Total Forecast Quantity</a:t>
            </a:r>
          </a:p>
          <a:p>
            <a:r>
              <a:rPr lang="en-IN" sz="1600" dirty="0"/>
              <a:t>4.Net Error</a:t>
            </a:r>
          </a:p>
          <a:p>
            <a:r>
              <a:rPr lang="en-IN" sz="1600" dirty="0"/>
              <a:t>5.Absolute Error</a:t>
            </a:r>
          </a:p>
          <a:p>
            <a:r>
              <a:rPr lang="en-IN" sz="1600" dirty="0"/>
              <a:t>6.Forecast Accuracy %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EC738A-69E4-6D85-207C-17EC26EE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459" y="2730310"/>
            <a:ext cx="8131245" cy="3088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A682FD-0832-2357-F073-E3FA8FB0A28A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9AA92809-C9D0-3B97-AA18-2EBD8E031B8F}"/>
              </a:ext>
            </a:extLst>
          </p:cNvPr>
          <p:cNvSpPr/>
          <p:nvPr/>
        </p:nvSpPr>
        <p:spPr>
          <a:xfrm>
            <a:off x="394927" y="15095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Request #11 </a:t>
            </a:r>
            <a:endParaRPr lang="en-US" sz="27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9A85752-8A62-3370-B271-1548B2C2CCC2}"/>
              </a:ext>
            </a:extLst>
          </p:cNvPr>
          <p:cNvSpPr/>
          <p:nvPr/>
        </p:nvSpPr>
        <p:spPr>
          <a:xfrm>
            <a:off x="4947114" y="2399619"/>
            <a:ext cx="694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Output Preview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366903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FCD292-91A5-998E-5B2D-9BE4ABD34DA4}"/>
              </a:ext>
            </a:extLst>
          </p:cNvPr>
          <p:cNvSpPr txBox="1"/>
          <p:nvPr/>
        </p:nvSpPr>
        <p:spPr>
          <a:xfrm>
            <a:off x="592282" y="994846"/>
            <a:ext cx="10194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supply chain business manager wants to see which customers’ forecast accuracy has dropped from 2020 to 2021. Provide a complete report with these columns: </a:t>
            </a:r>
            <a:r>
              <a:rPr lang="en-US" sz="1600" dirty="0" err="1"/>
              <a:t>customer_code</a:t>
            </a:r>
            <a:r>
              <a:rPr lang="en-US" sz="1600" dirty="0"/>
              <a:t>, </a:t>
            </a:r>
            <a:r>
              <a:rPr lang="en-US" sz="1600" dirty="0" err="1"/>
              <a:t>customer_name</a:t>
            </a:r>
            <a:r>
              <a:rPr lang="en-US" sz="1600" dirty="0"/>
              <a:t>, market, forecast_accuracy_2020, forecast_accuracy_2021</a:t>
            </a:r>
            <a:endParaRPr lang="en-I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AE8BA1-F08D-68ED-8789-CA3C996DE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304952"/>
            <a:ext cx="7437325" cy="3565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830D95-8CFC-D8B4-2B58-22329B2FC39D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E7BFE902-AE25-3EBA-A324-C7E4A4696D78}"/>
              </a:ext>
            </a:extLst>
          </p:cNvPr>
          <p:cNvSpPr/>
          <p:nvPr/>
        </p:nvSpPr>
        <p:spPr>
          <a:xfrm>
            <a:off x="394927" y="15095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Request #12 </a:t>
            </a:r>
            <a:endParaRPr lang="en-US" sz="2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Croma India showed substantial gross sales growth from FY2018 to FY2022.</a:t>
            </a:r>
          </a:p>
          <a:p>
            <a:pPr>
              <a:spcAft>
                <a:spcPts val="1000"/>
              </a:spcAft>
              <a:defRPr sz="1900"/>
            </a:pPr>
            <a:r>
              <a:t>Customer-level reporting can be automated through reusable stored procedures.</a:t>
            </a:r>
          </a:p>
          <a:p>
            <a:pPr>
              <a:spcAft>
                <a:spcPts val="1000"/>
              </a:spcAft>
              <a:defRPr sz="1900"/>
            </a:pPr>
            <a:r>
              <a:t>Top-N and regional analysis helps identify major financial contributors.</a:t>
            </a:r>
          </a:p>
          <a:p>
            <a:pPr>
              <a:spcAft>
                <a:spcPts val="1000"/>
              </a:spcAft>
              <a:defRPr sz="1900"/>
            </a:pPr>
            <a:r>
              <a:t>Forecast accuracy analysis highlights customers that may need closer planning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Technical 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MySQL / SQL</a:t>
            </a:r>
          </a:p>
          <a:p>
            <a:pPr>
              <a:spcAft>
                <a:spcPts val="1000"/>
              </a:spcAft>
              <a:defRPr sz="2000"/>
            </a:pPr>
            <a:r>
              <a:t>Joins, Aggregations, CASE, CTEs and Subqueries</a:t>
            </a:r>
          </a:p>
          <a:p>
            <a:pPr>
              <a:spcAft>
                <a:spcPts val="1000"/>
              </a:spcAft>
              <a:defRPr sz="2000"/>
            </a:pPr>
            <a:r>
              <a:t>Window Functions and DENSE_RANK()</a:t>
            </a:r>
          </a:p>
          <a:p>
            <a:pPr>
              <a:spcAft>
                <a:spcPts val="1000"/>
              </a:spcAft>
              <a:defRPr sz="2000"/>
            </a:pPr>
            <a:r>
              <a:t>Stored Procedures and User-Defined Functions</a:t>
            </a:r>
          </a:p>
          <a:p>
            <a:pPr>
              <a:spcAft>
                <a:spcPts val="1000"/>
              </a:spcAft>
              <a:defRPr sz="2000"/>
            </a:pPr>
            <a:r>
              <a:t>Fiscal-year / fiscal-quarter logic</a:t>
            </a:r>
          </a:p>
          <a:p>
            <a:pPr>
              <a:spcAft>
                <a:spcPts val="1000"/>
              </a:spcAft>
              <a:defRPr sz="2000"/>
            </a:pPr>
            <a:r>
              <a:t>Finance, Sales and Supply Chain Analytics</a:t>
            </a:r>
          </a:p>
          <a:p>
            <a:pPr>
              <a:spcAft>
                <a:spcPts val="1000"/>
              </a:spcAft>
              <a:defRPr sz="2000"/>
            </a:pPr>
            <a:r>
              <a:t>Forecast Accuracy &amp; Business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Converted business requirements into measurable analytical outputs.</a:t>
            </a:r>
          </a:p>
          <a:p>
            <a:pPr>
              <a:spcAft>
                <a:spcPts val="1000"/>
              </a:spcAft>
              <a:defRPr sz="2000"/>
            </a:pPr>
            <a:r>
              <a:t>Reduced repetitive manual SQL work through reusable procedures.</a:t>
            </a:r>
          </a:p>
          <a:p>
            <a:pPr>
              <a:spcAft>
                <a:spcPts val="1000"/>
              </a:spcAft>
              <a:defRPr sz="2000"/>
            </a:pPr>
            <a:r>
              <a:t>Created standardized market performance classification.</a:t>
            </a:r>
          </a:p>
          <a:p>
            <a:pPr>
              <a:spcAft>
                <a:spcPts val="1000"/>
              </a:spcAft>
              <a:defRPr sz="2000"/>
            </a:pPr>
            <a:r>
              <a:t>Made financial contribution visible across customers, products, markets and regions.</a:t>
            </a:r>
          </a:p>
          <a:p>
            <a:pPr>
              <a:spcAft>
                <a:spcPts val="1000"/>
              </a:spcAft>
              <a:defRPr sz="2000"/>
            </a:pPr>
            <a:r>
              <a:t>Created a framework to identify forecast accuracy issues.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EEF2EF-F8A3-9965-D1C5-4D098263C891}"/>
              </a:ext>
            </a:extLst>
          </p:cNvPr>
          <p:cNvSpPr txBox="1"/>
          <p:nvPr/>
        </p:nvSpPr>
        <p:spPr>
          <a:xfrm>
            <a:off x="2861186" y="2290916"/>
            <a:ext cx="672526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9600" b="1" dirty="0">
                <a:effectLst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68D73-F304-709F-4484-5B960EAD3F5F}"/>
              </a:ext>
            </a:extLst>
          </p:cNvPr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rPr dirty="0"/>
              <a:t>AtliQ Hardware | Finance &amp; Supply Chain Analytics | Arun R</a:t>
            </a:r>
          </a:p>
        </p:txBody>
      </p:sp>
    </p:spTree>
    <p:extLst>
      <p:ext uri="{BB962C8B-B14F-4D97-AF65-F5344CB8AC3E}">
        <p14:creationId xmlns:p14="http://schemas.microsoft.com/office/powerpoint/2010/main" val="2151315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2312</Words>
  <Application>Microsoft Office PowerPoint</Application>
  <PresentationFormat>Widescreen</PresentationFormat>
  <Paragraphs>278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Consolas</vt:lpstr>
      <vt:lpstr>Roboto</vt:lpstr>
      <vt:lpstr>Roboto Bold</vt:lpstr>
      <vt:lpstr>Roboto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 R</cp:lastModifiedBy>
  <cp:revision>7</cp:revision>
  <dcterms:created xsi:type="dcterms:W3CDTF">2013-01-27T09:14:16Z</dcterms:created>
  <dcterms:modified xsi:type="dcterms:W3CDTF">2026-09-01T19:05:56Z</dcterms:modified>
  <cp:category/>
</cp:coreProperties>
</file>